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1" r:id="rId4"/>
  </p:sldMasterIdLst>
  <p:notesMasterIdLst>
    <p:notesMasterId r:id="rId21"/>
  </p:notesMasterIdLst>
  <p:sldIdLst>
    <p:sldId id="258" r:id="rId5"/>
    <p:sldId id="263" r:id="rId6"/>
    <p:sldId id="264" r:id="rId7"/>
    <p:sldId id="265" r:id="rId8"/>
    <p:sldId id="270" r:id="rId9"/>
    <p:sldId id="266" r:id="rId10"/>
    <p:sldId id="267" r:id="rId11"/>
    <p:sldId id="268" r:id="rId12"/>
    <p:sldId id="269" r:id="rId13"/>
    <p:sldId id="276" r:id="rId14"/>
    <p:sldId id="272" r:id="rId15"/>
    <p:sldId id="271" r:id="rId16"/>
    <p:sldId id="273" r:id="rId17"/>
    <p:sldId id="274" r:id="rId18"/>
    <p:sldId id="275" r:id="rId19"/>
    <p:sldId id="26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B2D2F2"/>
    <a:srgbClr val="73A9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329" autoAdjust="0"/>
    <p:restoredTop sz="96405"/>
  </p:normalViewPr>
  <p:slideViewPr>
    <p:cSldViewPr snapToGrid="0" snapToObjects="1" showGuides="1">
      <p:cViewPr varScale="1">
        <p:scale>
          <a:sx n="103" d="100"/>
          <a:sy n="103" d="100"/>
        </p:scale>
        <p:origin x="1163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99" d="100"/>
          <a:sy n="99" d="100"/>
        </p:scale>
        <p:origin x="4272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59A375-B218-184B-B243-CB7E0F1616A7}" type="datetimeFigureOut">
              <a:rPr lang="en-US" smtClean="0"/>
              <a:t>8/13/2024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D5F0F0-3408-9F4A-9B24-898CD7F5D4E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0061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D5F0F0-3408-9F4A-9B24-898CD7F5D4E4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0815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D5F0F0-3408-9F4A-9B24-898CD7F5D4E4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6002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1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67"/>
            <a:ext cx="12189624" cy="68566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324100"/>
            <a:ext cx="9144000" cy="1572399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4038600"/>
            <a:ext cx="9144000" cy="838200"/>
          </a:xfrm>
        </p:spPr>
        <p:txBody>
          <a:bodyPr lIns="0" tIns="0" rIns="0" bIns="0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4876800"/>
            <a:ext cx="5410200" cy="133350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  <a:br>
              <a:rPr lang="en-US" dirty="0"/>
            </a:br>
            <a:r>
              <a:rPr lang="en-US" dirty="0"/>
              <a:t>Title</a:t>
            </a:r>
            <a:br>
              <a:rPr lang="en-US" dirty="0"/>
            </a:br>
            <a:r>
              <a:rPr lang="en-US" dirty="0"/>
              <a:t>Contact information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009" y="95382"/>
            <a:ext cx="3178301" cy="1309907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5" pos="43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952500" y="1179514"/>
            <a:ext cx="10287000" cy="5030786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3C2CCE9-65D5-4615-9B27-785F94F466C1}" type="datetime3">
              <a:rPr lang="en-US" smtClean="0"/>
              <a:t>13 August 2024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12735"/>
            <a:ext cx="11277600" cy="342899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52500" y="1485900"/>
            <a:ext cx="10287000" cy="47244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795015"/>
            <a:ext cx="11277600" cy="386085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sz="2000" b="0" dirty="0"/>
              <a:t>Click to add subtitle</a:t>
            </a:r>
            <a:endParaRPr lang="en-US" sz="1600" b="0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5EA4699-75BE-494C-BD9A-E994FCCCDC34}" type="datetime3">
              <a:rPr lang="en-US" smtClean="0"/>
              <a:t>13 August 2024</a:t>
            </a:fld>
            <a:endParaRPr lang="en-US" dirty="0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52500" y="1181100"/>
            <a:ext cx="4953000" cy="4176257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5548312"/>
            <a:ext cx="10286999" cy="661988"/>
          </a:xfrm>
          <a:solidFill>
            <a:schemeClr val="accent2"/>
          </a:solidFill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 dirty="0"/>
              <a:t>Click to add callout text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3" hasCustomPrompt="1"/>
          </p:nvPr>
        </p:nvSpPr>
        <p:spPr>
          <a:xfrm>
            <a:off x="6286501" y="1181100"/>
            <a:ext cx="4952998" cy="4176257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Date Placeholder 1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80F1980-BB30-462A-8444-E0A13D5FE3AD}" type="datetime3">
              <a:rPr lang="en-US" smtClean="0"/>
              <a:t>13 August 2024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Column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52500" y="1485900"/>
            <a:ext cx="4953000" cy="3871457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5548312"/>
            <a:ext cx="10286999" cy="661988"/>
          </a:xfrm>
          <a:solidFill>
            <a:schemeClr val="accent2"/>
          </a:solidFill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 dirty="0"/>
              <a:t>Click to add callout text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3" hasCustomPrompt="1"/>
          </p:nvPr>
        </p:nvSpPr>
        <p:spPr>
          <a:xfrm>
            <a:off x="6286501" y="1485900"/>
            <a:ext cx="4952998" cy="3871457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19100"/>
            <a:ext cx="11277600" cy="342899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801380"/>
            <a:ext cx="11277600" cy="379720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sz="2000" b="0" dirty="0"/>
              <a:t>Click to add subtitle</a:t>
            </a:r>
            <a:endParaRPr lang="en-US" sz="1600" b="0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FAF91DCA-BF81-465E-9F1A-7A79772C474D}" type="datetime3">
              <a:rPr lang="en-US" smtClean="0"/>
              <a:t>13 August 2024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E8A4B-C163-4750-8A07-20C27F1DD650}" type="datetime3">
              <a:rPr lang="en-US" smtClean="0"/>
              <a:t>13 August 2024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19100"/>
            <a:ext cx="11277600" cy="342899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801380"/>
            <a:ext cx="11277600" cy="379720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sz="2000" b="0" dirty="0"/>
              <a:t>Click to add subtitle</a:t>
            </a:r>
            <a:endParaRPr lang="en-US" sz="1600" b="0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F999DA4-C7B3-416B-B64C-11D36F7936CF}" type="datetime3">
              <a:rPr lang="en-US" smtClean="0"/>
              <a:t>13 August 2024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1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3AE6764-091D-4B77-8756-B5D91EEABF5A}" type="datetime3">
              <a:rPr lang="en-US" smtClean="0"/>
              <a:t>13 August 2024</a:t>
            </a:fld>
            <a:endParaRPr lang="en-US" dirty="0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4" y="0"/>
            <a:ext cx="12189624" cy="6856664"/>
          </a:xfrm>
          <a:prstGeom prst="rect">
            <a:avLst/>
          </a:prstGeom>
          <a:ln>
            <a:noFill/>
          </a:ln>
        </p:spPr>
      </p:pic>
      <p:sp>
        <p:nvSpPr>
          <p:cNvPr id="10" name="Rectangle 9"/>
          <p:cNvSpPr/>
          <p:nvPr/>
        </p:nvSpPr>
        <p:spPr>
          <a:xfrm>
            <a:off x="0" y="4358640"/>
            <a:ext cx="12192000" cy="249936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324100"/>
            <a:ext cx="9144000" cy="1572399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4038600"/>
            <a:ext cx="9144000" cy="837532"/>
          </a:xfrm>
        </p:spPr>
        <p:txBody>
          <a:bodyPr lIns="0" tIns="0" rIns="0" bIns="0"/>
          <a:lstStyle>
            <a:lvl1pPr marL="0" indent="0" algn="l">
              <a:buNone/>
              <a:defRPr sz="2400" b="1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 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4876800"/>
            <a:ext cx="5410200" cy="133350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  <a:br>
              <a:rPr lang="en-US" dirty="0"/>
            </a:br>
            <a:r>
              <a:rPr lang="en-US" dirty="0"/>
              <a:t>Title</a:t>
            </a:r>
            <a:br>
              <a:rPr lang="en-US" dirty="0"/>
            </a:br>
            <a:r>
              <a:rPr lang="en-US" dirty="0"/>
              <a:t>Contact information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009" y="95382"/>
            <a:ext cx="3178301" cy="1309907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2" pos="43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5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ate Placeholder 1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D2E7C0A-B003-47BB-897B-0979338FF81B}" type="datetime3">
              <a:rPr lang="en-US" smtClean="0"/>
              <a:t>13 August 2024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667"/>
            <a:ext cx="12189624" cy="685666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4361627"/>
            <a:ext cx="12192000" cy="249936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191000" y="1028700"/>
            <a:ext cx="6819900" cy="1482245"/>
          </a:xfrm>
        </p:spPr>
        <p:txBody>
          <a:bodyPr anchor="t">
            <a:normAutofit/>
          </a:bodyPr>
          <a:lstStyle>
            <a:lvl1pPr algn="l"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 </a:t>
            </a:r>
            <a:br>
              <a:rPr lang="en-US" dirty="0"/>
            </a:br>
            <a:r>
              <a:rPr lang="en-US" dirty="0"/>
              <a:t>(recommended for titles that </a:t>
            </a:r>
            <a:br>
              <a:rPr lang="en-US" dirty="0"/>
            </a:br>
            <a:r>
              <a:rPr lang="en-US" dirty="0"/>
              <a:t>are 2-3 lines long)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338" y="532082"/>
            <a:ext cx="3271029" cy="2139696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191000" y="3855309"/>
            <a:ext cx="6819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4191000" y="3976706"/>
            <a:ext cx="6819900" cy="2233594"/>
          </a:xfrm>
        </p:spPr>
        <p:txBody>
          <a:bodyPr lIns="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0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en-US" dirty="0">
                <a:effectLst/>
                <a:latin typeface="Helvetica" charset="0"/>
              </a:rPr>
              <a:t>Click to add classification text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191000" y="3855309"/>
            <a:ext cx="6819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 userDrawn="1"/>
        </p:nvCxnSpPr>
        <p:spPr>
          <a:xfrm>
            <a:off x="4191000" y="3855309"/>
            <a:ext cx="6819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191001" y="2514600"/>
            <a:ext cx="6819900" cy="342899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1600" b="1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4191000" y="2860102"/>
            <a:ext cx="6819900" cy="790832"/>
          </a:xfr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  <a:br>
              <a:rPr lang="en-US" dirty="0"/>
            </a:br>
            <a:r>
              <a:rPr lang="en-US" dirty="0"/>
              <a:t>Title</a:t>
            </a:r>
            <a:br>
              <a:rPr lang="en-US" dirty="0"/>
            </a:br>
            <a:r>
              <a:rPr lang="en-US" dirty="0"/>
              <a:t>Contact information</a:t>
            </a:r>
          </a:p>
        </p:txBody>
      </p:sp>
      <p:sp>
        <p:nvSpPr>
          <p:cNvPr id="24" name="TextBox 23"/>
          <p:cNvSpPr txBox="1"/>
          <p:nvPr userDrawn="1"/>
        </p:nvSpPr>
        <p:spPr>
          <a:xfrm>
            <a:off x="1082518" y="2541694"/>
            <a:ext cx="2210142" cy="49757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bg1"/>
                </a:solidFill>
                <a:latin typeface="+mn-lt"/>
                <a:ea typeface="Myriad Pro" charset="0"/>
                <a:cs typeface="Myriad Pro" charset="0"/>
              </a:rPr>
              <a:t>11100 Johns Hopkins Road </a:t>
            </a:r>
            <a:br>
              <a:rPr lang="en-US" sz="1200" dirty="0">
                <a:solidFill>
                  <a:schemeClr val="bg1"/>
                </a:solidFill>
                <a:latin typeface="+mn-lt"/>
                <a:ea typeface="Myriad Pro" charset="0"/>
                <a:cs typeface="Myriad Pro" charset="0"/>
              </a:rPr>
            </a:br>
            <a:r>
              <a:rPr lang="en-US" sz="1200" dirty="0">
                <a:solidFill>
                  <a:schemeClr val="bg1"/>
                </a:solidFill>
                <a:latin typeface="+mn-lt"/>
                <a:ea typeface="Myriad Pro" charset="0"/>
                <a:cs typeface="Myriad Pro" charset="0"/>
              </a:rPr>
              <a:t>Laurel, MD 20723-6099</a:t>
            </a:r>
          </a:p>
        </p:txBody>
      </p:sp>
      <p:cxnSp>
        <p:nvCxnSpPr>
          <p:cNvPr id="25" name="Straight Connector 24"/>
          <p:cNvCxnSpPr/>
          <p:nvPr userDrawn="1"/>
        </p:nvCxnSpPr>
        <p:spPr>
          <a:xfrm>
            <a:off x="1082518" y="2387995"/>
            <a:ext cx="2210142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5" pos="693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5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Date Placeholder 1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6124C0E-DA41-468A-ABB3-2DB9ABAF6F00}" type="datetime3">
              <a:rPr lang="en-US" smtClean="0"/>
              <a:t>13 August 2024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5" y="667"/>
            <a:ext cx="12189624" cy="68566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191000" y="1028700"/>
            <a:ext cx="6819900" cy="1485900"/>
          </a:xfrm>
        </p:spPr>
        <p:txBody>
          <a:bodyPr anchor="t">
            <a:normAutofit/>
          </a:bodyPr>
          <a:lstStyle>
            <a:lvl1pPr algn="l">
              <a:defRPr sz="3200"/>
            </a:lvl1pPr>
          </a:lstStyle>
          <a:p>
            <a:r>
              <a:rPr lang="en-US" dirty="0"/>
              <a:t>Click to add title</a:t>
            </a:r>
            <a:br>
              <a:rPr lang="en-US" dirty="0"/>
            </a:br>
            <a:r>
              <a:rPr lang="en-US" dirty="0"/>
              <a:t>(recommended for titles that </a:t>
            </a:r>
            <a:br>
              <a:rPr lang="en-US" dirty="0"/>
            </a:br>
            <a:r>
              <a:rPr lang="en-US" dirty="0"/>
              <a:t>are 2-3 lines long)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338" y="532082"/>
            <a:ext cx="3271029" cy="2139696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191000" y="3855309"/>
            <a:ext cx="68199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4191000" y="3976706"/>
            <a:ext cx="6819900" cy="2233594"/>
          </a:xfrm>
        </p:spPr>
        <p:txBody>
          <a:bodyPr lIns="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lang="en-US" sz="1000" smtClean="0">
                <a:solidFill>
                  <a:schemeClr val="accent1"/>
                </a:solidFill>
                <a:effectLst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en-US" dirty="0">
                <a:effectLst/>
                <a:latin typeface="Helvetica" charset="0"/>
              </a:rPr>
              <a:t>Click to add classification text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191001" y="2514601"/>
            <a:ext cx="6819900" cy="354954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4191000" y="2869555"/>
            <a:ext cx="6819900" cy="790832"/>
          </a:xfr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  <a:br>
              <a:rPr lang="en-US" dirty="0"/>
            </a:br>
            <a:r>
              <a:rPr lang="en-US" dirty="0"/>
              <a:t>Title</a:t>
            </a:r>
            <a:br>
              <a:rPr lang="en-US" dirty="0"/>
            </a:br>
            <a:r>
              <a:rPr lang="en-US" dirty="0"/>
              <a:t>Contact information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082518" y="2541694"/>
            <a:ext cx="2210142" cy="49757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accent1"/>
                </a:solidFill>
                <a:latin typeface="+mn-lt"/>
                <a:ea typeface="Myriad Pro" charset="0"/>
                <a:cs typeface="Myriad Pro" charset="0"/>
              </a:rPr>
              <a:t>11100 Johns Hopkins Road </a:t>
            </a:r>
            <a:br>
              <a:rPr lang="en-US" sz="1200" dirty="0">
                <a:solidFill>
                  <a:schemeClr val="accent1"/>
                </a:solidFill>
                <a:latin typeface="+mn-lt"/>
                <a:ea typeface="Myriad Pro" charset="0"/>
                <a:cs typeface="Myriad Pro" charset="0"/>
              </a:rPr>
            </a:br>
            <a:r>
              <a:rPr lang="en-US" sz="1200" dirty="0">
                <a:solidFill>
                  <a:schemeClr val="accent1"/>
                </a:solidFill>
                <a:latin typeface="+mn-lt"/>
                <a:ea typeface="Myriad Pro" charset="0"/>
                <a:cs typeface="Myriad Pro" charset="0"/>
              </a:rPr>
              <a:t>Laurel, MD 20723-6099</a:t>
            </a: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1082518" y="2387995"/>
            <a:ext cx="2210142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25" pos="693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2BCFE-D255-4C4B-BA1D-51B94D9D938B}" type="datetime3">
              <a:rPr lang="en-US" smtClean="0"/>
              <a:t>13 August 2024</a:t>
            </a:fld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6291470"/>
            <a:ext cx="12192000" cy="566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6163" y="1371600"/>
            <a:ext cx="5479673" cy="358444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667"/>
            <a:ext cx="12189624" cy="6856664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>
          <a:xfrm>
            <a:off x="-1" y="4358640"/>
            <a:ext cx="12192000" cy="249936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6163" y="1371600"/>
            <a:ext cx="5479673" cy="35844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AF200-3133-408E-AEAA-04B3ACA33176}" type="datetime3">
              <a:rPr lang="en-US" smtClean="0"/>
              <a:t>13 August 2024</a:t>
            </a:fld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6291470"/>
            <a:ext cx="12192000" cy="566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5" y="667"/>
            <a:ext cx="12189624" cy="685666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6163" y="1371600"/>
            <a:ext cx="5479673" cy="3584448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0" y="6499798"/>
            <a:ext cx="12192000" cy="3566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pPr algn="ctr"/>
            <a:endParaRPr lang="en-US" dirty="0"/>
          </a:p>
        </p:txBody>
      </p:sp>
      <p:cxnSp>
        <p:nvCxnSpPr>
          <p:cNvPr id="15" name="Straight Connector 14"/>
          <p:cNvCxnSpPr/>
          <p:nvPr userDrawn="1"/>
        </p:nvCxnSpPr>
        <p:spPr>
          <a:xfrm>
            <a:off x="0" y="6500474"/>
            <a:ext cx="1219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19100"/>
            <a:ext cx="11277600" cy="762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500" y="1181100"/>
            <a:ext cx="10287000" cy="50292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36810" y="6500814"/>
            <a:ext cx="1371600" cy="357186"/>
          </a:xfrm>
          <a:prstGeom prst="rect">
            <a:avLst/>
          </a:prstGeom>
        </p:spPr>
        <p:txBody>
          <a:bodyPr vert="horz" lIns="91440" tIns="0" rIns="91440" bIns="0" rtlCol="0" anchor="ctr"/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EBD90533-0019-439F-9033-E5FD503D101E}" type="datetime3">
              <a:rPr lang="en-US" smtClean="0"/>
              <a:t>13 August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42416" y="6500814"/>
            <a:ext cx="3197406" cy="355600"/>
          </a:xfrm>
          <a:prstGeom prst="rect">
            <a:avLst/>
          </a:prstGeom>
        </p:spPr>
        <p:txBody>
          <a:bodyPr vert="horz" lIns="91440" tIns="0" rIns="91440" bIns="0" rtlCol="0" anchor="ctr"/>
          <a:lstStyle>
            <a:lvl1pPr algn="l"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40302" y="6500474"/>
            <a:ext cx="381000" cy="35752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 b="1">
                <a:solidFill>
                  <a:schemeClr val="accent2"/>
                </a:solidFill>
              </a:defRPr>
            </a:lvl1pPr>
          </a:lstStyle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11424239" y="6604000"/>
            <a:ext cx="0" cy="155141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566791"/>
            <a:ext cx="210893" cy="226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44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7" r:id="rId2"/>
    <p:sldLayoutId id="2147483731" r:id="rId3"/>
    <p:sldLayoutId id="2147483701" r:id="rId4"/>
    <p:sldLayoutId id="2147483732" r:id="rId5"/>
    <p:sldLayoutId id="2147483711" r:id="rId6"/>
    <p:sldLayoutId id="2147483737" r:id="rId7"/>
    <p:sldLayoutId id="2147483719" r:id="rId8"/>
    <p:sldLayoutId id="2147483724" r:id="rId9"/>
    <p:sldLayoutId id="2147483717" r:id="rId10"/>
    <p:sldLayoutId id="2147483720" r:id="rId11"/>
    <p:sldLayoutId id="2147483715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/>
        <a:buChar char="•"/>
        <a:defRPr sz="2000" kern="120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1pPr>
      <a:lvl2pPr marL="693738" indent="-246063" algn="l" defTabSz="914400" rtl="0" eaLnBrk="1" latinLnBrk="0" hangingPunct="1">
        <a:lnSpc>
          <a:spcPct val="100000"/>
        </a:lnSpc>
        <a:spcBef>
          <a:spcPts val="400"/>
        </a:spcBef>
        <a:buFont typeface=".AppleSystemUIFont" charset="-120"/>
        <a:buChar char="-"/>
        <a:tabLst/>
        <a:defRPr sz="1600" kern="120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2pPr>
      <a:lvl3pPr marL="1150938" indent="-228600" algn="l" defTabSz="914400" rtl="0" eaLnBrk="1" latinLnBrk="0" hangingPunct="1">
        <a:lnSpc>
          <a:spcPct val="100000"/>
        </a:lnSpc>
        <a:spcBef>
          <a:spcPts val="400"/>
        </a:spcBef>
        <a:buSzPct val="80000"/>
        <a:buFont typeface="Wingdings" charset="2"/>
        <a:buChar char="§"/>
        <a:tabLst/>
        <a:defRPr sz="1600" kern="120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3pPr>
      <a:lvl4pPr marL="1606550" indent="-227013" algn="l" defTabSz="914400" rtl="0" eaLnBrk="1" latinLnBrk="0" hangingPunct="1">
        <a:lnSpc>
          <a:spcPct val="100000"/>
        </a:lnSpc>
        <a:spcBef>
          <a:spcPts val="400"/>
        </a:spcBef>
        <a:buSzPct val="80000"/>
        <a:buFont typeface="Courier New" charset="0"/>
        <a:buChar char="o"/>
        <a:tabLst/>
        <a:defRPr sz="1600" kern="120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4pPr>
      <a:lvl5pPr marL="2063750" indent="-228600" algn="l" defTabSz="914400" rtl="0" eaLnBrk="1" latinLnBrk="0" hangingPunct="1">
        <a:lnSpc>
          <a:spcPct val="100000"/>
        </a:lnSpc>
        <a:spcBef>
          <a:spcPts val="400"/>
        </a:spcBef>
        <a:buFont typeface="Arial"/>
        <a:buChar char="•"/>
        <a:tabLst/>
        <a:defRPr sz="1600" kern="1200" baseline="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0" orient="horz" pos="264" userDrawn="1">
          <p15:clr>
            <a:srgbClr val="F26B43"/>
          </p15:clr>
        </p15:guide>
        <p15:guide id="11" pos="288" userDrawn="1">
          <p15:clr>
            <a:srgbClr val="F26B43"/>
          </p15:clr>
        </p15:guide>
        <p15:guide id="12" pos="7392" userDrawn="1">
          <p15:clr>
            <a:srgbClr val="F26B43"/>
          </p15:clr>
        </p15:guide>
        <p15:guide id="13" orient="horz" pos="3912" userDrawn="1">
          <p15:clr>
            <a:srgbClr val="F26B43"/>
          </p15:clr>
        </p15:guide>
        <p15:guide id="14" pos="3840" userDrawn="1">
          <p15:clr>
            <a:srgbClr val="F26B43"/>
          </p15:clr>
        </p15:guide>
        <p15:guide id="16" orient="horz" pos="936" userDrawn="1">
          <p15:clr>
            <a:srgbClr val="F26B43"/>
          </p15:clr>
        </p15:guide>
        <p15:guide id="17" pos="600" userDrawn="1">
          <p15:clr>
            <a:srgbClr val="F26B43"/>
          </p15:clr>
        </p15:guide>
        <p15:guide id="18" pos="7080" userDrawn="1">
          <p15:clr>
            <a:srgbClr val="F26B43"/>
          </p15:clr>
        </p15:guide>
        <p15:guide id="19" pos="4056" userDrawn="1">
          <p15:clr>
            <a:srgbClr val="F26B43"/>
          </p15:clr>
        </p15:guide>
        <p15:guide id="20" pos="3624" userDrawn="1">
          <p15:clr>
            <a:srgbClr val="F26B43"/>
          </p15:clr>
        </p15:guide>
        <p15:guide id="22" orient="horz" pos="74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85800" y="2324100"/>
            <a:ext cx="10788162" cy="1572399"/>
          </a:xfrm>
        </p:spPr>
        <p:txBody>
          <a:bodyPr/>
          <a:lstStyle/>
          <a:p>
            <a:r>
              <a:rPr lang="en-US" dirty="0"/>
              <a:t>How To Use: Cam Generator App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Creating, analyzing, and exporting a rotary cam easily and quickly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Jack Hammer</a:t>
            </a:r>
          </a:p>
          <a:p>
            <a:r>
              <a:rPr lang="en-US" dirty="0"/>
              <a:t>FPS/KFP</a:t>
            </a:r>
          </a:p>
        </p:txBody>
      </p:sp>
    </p:spTree>
    <p:extLst>
      <p:ext uri="{BB962C8B-B14F-4D97-AF65-F5344CB8AC3E}">
        <p14:creationId xmlns:p14="http://schemas.microsoft.com/office/powerpoint/2010/main" val="1507358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Apps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52500" y="1181100"/>
            <a:ext cx="9772472" cy="5029200"/>
          </a:xfrm>
        </p:spPr>
        <p:txBody>
          <a:bodyPr/>
          <a:lstStyle/>
          <a:p>
            <a:r>
              <a:rPr lang="en-US" dirty="0"/>
              <a:t>This app was made to quickly iterate on rotary cam designs to then simulate performance in CREO</a:t>
            </a:r>
          </a:p>
          <a:p>
            <a:r>
              <a:rPr lang="en-US" dirty="0"/>
              <a:t>It allows you to..</a:t>
            </a:r>
          </a:p>
          <a:p>
            <a:pPr lvl="1"/>
            <a:r>
              <a:rPr lang="en-US" dirty="0"/>
              <a:t>Create custom cam design</a:t>
            </a:r>
          </a:p>
          <a:p>
            <a:pPr lvl="1"/>
            <a:r>
              <a:rPr lang="en-US" dirty="0"/>
              <a:t>View the follower motion</a:t>
            </a:r>
          </a:p>
          <a:p>
            <a:pPr lvl="1"/>
            <a:r>
              <a:rPr lang="en-US" dirty="0"/>
              <a:t>Watch/create an animation of this motion in 2D</a:t>
            </a:r>
          </a:p>
          <a:p>
            <a:pPr lvl="1"/>
            <a:r>
              <a:rPr lang="en-US" dirty="0"/>
              <a:t>Export the cam as points to be used in modeling software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CEF0557-557E-4E05-A15C-E44F5A05222A}" type="datetime3">
              <a:rPr lang="en-US" smtClean="0"/>
              <a:t>13 August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6404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F008C-2930-43E7-9CEA-D776B32C2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 Layout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EAF55-28B4-4748-A6FF-E1DEF768EAE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3C2CCE9-65D5-4615-9B27-785F94F466C1}" type="datetime3">
              <a:rPr lang="en-US" smtClean="0"/>
              <a:t>13 August 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9CEE6-6536-4111-99D3-62F15165496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0BC40-5420-48D2-BF84-71F1E05B065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3</a:t>
            </a:fld>
            <a:endParaRPr lang="en-US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A25F0DB-8925-4FD4-8081-27F2C14EA289}"/>
              </a:ext>
            </a:extLst>
          </p:cNvPr>
          <p:cNvGrpSpPr/>
          <p:nvPr/>
        </p:nvGrpSpPr>
        <p:grpSpPr>
          <a:xfrm>
            <a:off x="1284514" y="967177"/>
            <a:ext cx="9622971" cy="5202760"/>
            <a:chOff x="1284514" y="967177"/>
            <a:chExt cx="9622971" cy="520276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C980F79-1BBF-4A3C-955A-4D64C1042C74}"/>
                </a:ext>
              </a:extLst>
            </p:cNvPr>
            <p:cNvGrpSpPr/>
            <p:nvPr/>
          </p:nvGrpSpPr>
          <p:grpSpPr>
            <a:xfrm>
              <a:off x="1284514" y="967177"/>
              <a:ext cx="9622971" cy="5202760"/>
              <a:chOff x="1284514" y="967177"/>
              <a:chExt cx="9622971" cy="5202760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57C3FE03-208D-4BFA-858F-C510244911A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r="634" b="404"/>
              <a:stretch/>
            </p:blipFill>
            <p:spPr>
              <a:xfrm>
                <a:off x="1284514" y="967177"/>
                <a:ext cx="9622971" cy="5202760"/>
              </a:xfrm>
              <a:prstGeom prst="rect">
                <a:avLst/>
              </a:prstGeom>
              <a:ln w="12700">
                <a:solidFill>
                  <a:schemeClr val="tx1"/>
                </a:solidFill>
              </a:ln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F843C00E-0D1E-48FB-9ECB-D211D83A98D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41920" t="50115" r="50414" b="12103"/>
              <a:stretch/>
            </p:blipFill>
            <p:spPr>
              <a:xfrm>
                <a:off x="4662533" y="1181100"/>
                <a:ext cx="253499" cy="4988837"/>
              </a:xfrm>
              <a:prstGeom prst="rect">
                <a:avLst/>
              </a:prstGeom>
              <a:ln w="12700">
                <a:noFill/>
              </a:ln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D922EEBD-9848-48CB-8FA0-B9D9CB68511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41920" t="50115" r="50414" b="12103"/>
              <a:stretch/>
            </p:blipFill>
            <p:spPr>
              <a:xfrm>
                <a:off x="1284514" y="1188357"/>
                <a:ext cx="9622971" cy="45719"/>
              </a:xfrm>
              <a:prstGeom prst="rect">
                <a:avLst/>
              </a:prstGeom>
              <a:ln w="12700">
                <a:noFill/>
              </a:ln>
            </p:spPr>
          </p:pic>
        </p:grp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1A6E7F83-9665-4EFE-BDD9-780FAB8A3D7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41920" t="50115" r="50414" b="12103"/>
            <a:stretch/>
          </p:blipFill>
          <p:spPr>
            <a:xfrm>
              <a:off x="1438686" y="5744423"/>
              <a:ext cx="1585867" cy="331061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9865AC6C-F24B-44EC-AFCA-6547A683168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41920" t="50115" r="50414" b="12103"/>
            <a:stretch/>
          </p:blipFill>
          <p:spPr>
            <a:xfrm>
              <a:off x="1509606" y="5578892"/>
              <a:ext cx="615696" cy="331061"/>
            </a:xfrm>
            <a:prstGeom prst="rect">
              <a:avLst/>
            </a:prstGeom>
            <a:ln w="12700">
              <a:noFill/>
            </a:ln>
          </p:spPr>
        </p:pic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58482F2F-3CCF-4C05-8DA6-A198ABBEB0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920" t="50115" r="50414" b="12103"/>
          <a:stretch/>
        </p:blipFill>
        <p:spPr>
          <a:xfrm>
            <a:off x="4976172" y="1188357"/>
            <a:ext cx="5706222" cy="4981580"/>
          </a:xfrm>
          <a:prstGeom prst="rect">
            <a:avLst/>
          </a:prstGeom>
          <a:ln w="12700">
            <a:noFill/>
          </a:ln>
        </p:spPr>
      </p:pic>
    </p:spTree>
    <p:extLst>
      <p:ext uri="{BB962C8B-B14F-4D97-AF65-F5344CB8AC3E}">
        <p14:creationId xmlns:p14="http://schemas.microsoft.com/office/powerpoint/2010/main" val="3479539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F008C-2930-43E7-9CEA-D776B32C2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 Layout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EAF55-28B4-4748-A6FF-E1DEF768EAE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3C2CCE9-65D5-4615-9B27-785F94F466C1}" type="datetime3">
              <a:rPr lang="en-US" smtClean="0"/>
              <a:t>13 August 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9CEE6-6536-4111-99D3-62F15165496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0BC40-5420-48D2-BF84-71F1E05B065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4</a:t>
            </a:fld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C980F79-1BBF-4A3C-955A-4D64C1042C74}"/>
              </a:ext>
            </a:extLst>
          </p:cNvPr>
          <p:cNvGrpSpPr/>
          <p:nvPr/>
        </p:nvGrpSpPr>
        <p:grpSpPr>
          <a:xfrm>
            <a:off x="1284514" y="967177"/>
            <a:ext cx="9622971" cy="5202760"/>
            <a:chOff x="1284514" y="967177"/>
            <a:chExt cx="9622971" cy="520276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7C3FE03-208D-4BFA-858F-C510244911A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634" b="404"/>
            <a:stretch/>
          </p:blipFill>
          <p:spPr>
            <a:xfrm>
              <a:off x="1284514" y="967177"/>
              <a:ext cx="9622971" cy="5202760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843C00E-0D1E-48FB-9ECB-D211D83A98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41920" t="50115" r="50414" b="12103"/>
            <a:stretch/>
          </p:blipFill>
          <p:spPr>
            <a:xfrm>
              <a:off x="4662533" y="1181100"/>
              <a:ext cx="253499" cy="4988837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922EEBD-9848-48CB-8FA0-B9D9CB68511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41920" t="50115" r="50414" b="12103"/>
            <a:stretch/>
          </p:blipFill>
          <p:spPr>
            <a:xfrm>
              <a:off x="1284514" y="1188357"/>
              <a:ext cx="9622971" cy="45719"/>
            </a:xfrm>
            <a:prstGeom prst="rect">
              <a:avLst/>
            </a:prstGeom>
            <a:ln w="12700">
              <a:noFill/>
            </a:ln>
          </p:spPr>
        </p:pic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35338171-23E1-4053-B88B-E2AA84511C0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920" t="50115" r="50414" b="12103"/>
          <a:stretch/>
        </p:blipFill>
        <p:spPr>
          <a:xfrm>
            <a:off x="4976172" y="1188357"/>
            <a:ext cx="5706222" cy="4981580"/>
          </a:xfrm>
          <a:prstGeom prst="rect">
            <a:avLst/>
          </a:prstGeom>
          <a:ln w="12700"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F6582D3-AD8F-4273-9545-9D7BD74F02D3}"/>
              </a:ext>
            </a:extLst>
          </p:cNvPr>
          <p:cNvSpPr/>
          <p:nvPr/>
        </p:nvSpPr>
        <p:spPr>
          <a:xfrm>
            <a:off x="1403287" y="1234077"/>
            <a:ext cx="2860895" cy="3118386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en-US" sz="2000" dirty="0" err="1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B7675C-A8A3-4458-B5A2-28F098C2A772}"/>
              </a:ext>
            </a:extLst>
          </p:cNvPr>
          <p:cNvSpPr/>
          <p:nvPr/>
        </p:nvSpPr>
        <p:spPr>
          <a:xfrm>
            <a:off x="4662533" y="3886661"/>
            <a:ext cx="1756374" cy="931604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Output motion input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BDB2F6C-CDCB-4CA8-987C-41DD7D15FD6A}"/>
              </a:ext>
            </a:extLst>
          </p:cNvPr>
          <p:cNvCxnSpPr>
            <a:cxnSpLocks/>
          </p:cNvCxnSpPr>
          <p:nvPr/>
        </p:nvCxnSpPr>
        <p:spPr>
          <a:xfrm flipH="1" flipV="1">
            <a:off x="4264182" y="3956364"/>
            <a:ext cx="398352" cy="39610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35D990F7-3892-4F65-B993-BC65F30E71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920" t="50115" r="50414" b="12103"/>
          <a:stretch/>
        </p:blipFill>
        <p:spPr>
          <a:xfrm>
            <a:off x="1438686" y="5744423"/>
            <a:ext cx="1585867" cy="331061"/>
          </a:xfrm>
          <a:prstGeom prst="rect">
            <a:avLst/>
          </a:prstGeom>
          <a:ln w="12700">
            <a:noFill/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350E98E-F323-4986-A3D9-045231FAC5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920" t="50115" r="50414" b="12103"/>
          <a:stretch/>
        </p:blipFill>
        <p:spPr>
          <a:xfrm>
            <a:off x="1509606" y="5578892"/>
            <a:ext cx="615696" cy="331061"/>
          </a:xfrm>
          <a:prstGeom prst="rect">
            <a:avLst/>
          </a:prstGeom>
          <a:ln w="12700">
            <a:noFill/>
          </a:ln>
        </p:spPr>
      </p:pic>
    </p:spTree>
    <p:extLst>
      <p:ext uri="{BB962C8B-B14F-4D97-AF65-F5344CB8AC3E}">
        <p14:creationId xmlns:p14="http://schemas.microsoft.com/office/powerpoint/2010/main" val="1067482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F008C-2930-43E7-9CEA-D776B32C2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the App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EAF55-28B4-4748-A6FF-E1DEF768EAE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3C2CCE9-65D5-4615-9B27-785F94F466C1}" type="datetime3">
              <a:rPr lang="en-US" smtClean="0"/>
              <a:t>13 August 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9CEE6-6536-4111-99D3-62F15165496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0BC40-5420-48D2-BF84-71F1E05B065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5</a:t>
            </a:fld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C980F79-1BBF-4A3C-955A-4D64C1042C74}"/>
              </a:ext>
            </a:extLst>
          </p:cNvPr>
          <p:cNvGrpSpPr/>
          <p:nvPr/>
        </p:nvGrpSpPr>
        <p:grpSpPr>
          <a:xfrm>
            <a:off x="1284514" y="967177"/>
            <a:ext cx="9622971" cy="5202760"/>
            <a:chOff x="1284514" y="967177"/>
            <a:chExt cx="9622971" cy="520276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7C3FE03-208D-4BFA-858F-C510244911A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634" b="404"/>
            <a:stretch/>
          </p:blipFill>
          <p:spPr>
            <a:xfrm>
              <a:off x="1284514" y="967177"/>
              <a:ext cx="9622971" cy="5202760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843C00E-0D1E-48FB-9ECB-D211D83A98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41920" t="50115" r="50414" b="12103"/>
            <a:stretch/>
          </p:blipFill>
          <p:spPr>
            <a:xfrm>
              <a:off x="4662533" y="1181100"/>
              <a:ext cx="253499" cy="4988837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922EEBD-9848-48CB-8FA0-B9D9CB68511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41920" t="50115" r="50414" b="12103"/>
            <a:stretch/>
          </p:blipFill>
          <p:spPr>
            <a:xfrm>
              <a:off x="1284514" y="1188357"/>
              <a:ext cx="9622971" cy="45719"/>
            </a:xfrm>
            <a:prstGeom prst="rect">
              <a:avLst/>
            </a:prstGeom>
            <a:ln w="12700">
              <a:noFill/>
            </a:ln>
          </p:spPr>
        </p:pic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35338171-23E1-4053-B88B-E2AA84511C0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920" t="50115" r="50414" b="12103"/>
          <a:stretch/>
        </p:blipFill>
        <p:spPr>
          <a:xfrm>
            <a:off x="4976172" y="1188357"/>
            <a:ext cx="5706222" cy="4981580"/>
          </a:xfrm>
          <a:prstGeom prst="rect">
            <a:avLst/>
          </a:prstGeom>
          <a:ln w="12700"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F6582D3-AD8F-4273-9545-9D7BD74F02D3}"/>
              </a:ext>
            </a:extLst>
          </p:cNvPr>
          <p:cNvSpPr/>
          <p:nvPr/>
        </p:nvSpPr>
        <p:spPr>
          <a:xfrm flipH="1">
            <a:off x="4264181" y="2534990"/>
            <a:ext cx="338212" cy="443150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en-US" sz="2000" dirty="0" err="1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B7675C-A8A3-4458-B5A2-28F098C2A772}"/>
              </a:ext>
            </a:extLst>
          </p:cNvPr>
          <p:cNvSpPr/>
          <p:nvPr/>
        </p:nvSpPr>
        <p:spPr>
          <a:xfrm>
            <a:off x="5540720" y="2770402"/>
            <a:ext cx="1756374" cy="931604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85000" lnSpcReduction="10000"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Number of points used for cam generation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BDB2F6C-CDCB-4CA8-987C-41DD7D15FD6A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4602394" y="2756566"/>
            <a:ext cx="938326" cy="47963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35D990F7-3892-4F65-B993-BC65F30E71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920" t="50115" r="50414" b="12103"/>
          <a:stretch/>
        </p:blipFill>
        <p:spPr>
          <a:xfrm>
            <a:off x="1438686" y="5744423"/>
            <a:ext cx="1585867" cy="331061"/>
          </a:xfrm>
          <a:prstGeom prst="rect">
            <a:avLst/>
          </a:prstGeom>
          <a:ln w="12700">
            <a:noFill/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350E98E-F323-4986-A3D9-045231FAC5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920" t="50115" r="50414" b="12103"/>
          <a:stretch/>
        </p:blipFill>
        <p:spPr>
          <a:xfrm>
            <a:off x="1509606" y="5578892"/>
            <a:ext cx="615696" cy="331061"/>
          </a:xfrm>
          <a:prstGeom prst="rect">
            <a:avLst/>
          </a:prstGeom>
          <a:ln w="12700">
            <a:noFill/>
          </a:ln>
        </p:spPr>
      </p:pic>
    </p:spTree>
    <p:extLst>
      <p:ext uri="{BB962C8B-B14F-4D97-AF65-F5344CB8AC3E}">
        <p14:creationId xmlns:p14="http://schemas.microsoft.com/office/powerpoint/2010/main" val="3118101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F008C-2930-43E7-9CEA-D776B32C2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the App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EAF55-28B4-4748-A6FF-E1DEF768EAE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3C2CCE9-65D5-4615-9B27-785F94F466C1}" type="datetime3">
              <a:rPr lang="en-US" smtClean="0"/>
              <a:t>13 August 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9CEE6-6536-4111-99D3-62F15165496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0BC40-5420-48D2-BF84-71F1E05B065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6</a:t>
            </a:fld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C980F79-1BBF-4A3C-955A-4D64C1042C74}"/>
              </a:ext>
            </a:extLst>
          </p:cNvPr>
          <p:cNvGrpSpPr/>
          <p:nvPr/>
        </p:nvGrpSpPr>
        <p:grpSpPr>
          <a:xfrm>
            <a:off x="1284514" y="967177"/>
            <a:ext cx="9622971" cy="5202760"/>
            <a:chOff x="1284514" y="967177"/>
            <a:chExt cx="9622971" cy="520276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7C3FE03-208D-4BFA-858F-C510244911A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634" b="404"/>
            <a:stretch/>
          </p:blipFill>
          <p:spPr>
            <a:xfrm>
              <a:off x="1284514" y="967177"/>
              <a:ext cx="9622971" cy="5202760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843C00E-0D1E-48FB-9ECB-D211D83A98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41920" t="50115" r="50414" b="12103"/>
            <a:stretch/>
          </p:blipFill>
          <p:spPr>
            <a:xfrm>
              <a:off x="4662533" y="1181100"/>
              <a:ext cx="253499" cy="4988837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922EEBD-9848-48CB-8FA0-B9D9CB68511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41920" t="50115" r="50414" b="12103"/>
            <a:stretch/>
          </p:blipFill>
          <p:spPr>
            <a:xfrm>
              <a:off x="1284514" y="1188357"/>
              <a:ext cx="9622971" cy="45719"/>
            </a:xfrm>
            <a:prstGeom prst="rect">
              <a:avLst/>
            </a:prstGeom>
            <a:ln w="12700">
              <a:noFill/>
            </a:ln>
          </p:spPr>
        </p:pic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A9D34A05-D320-44E9-B981-A24BED361E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920" t="50115" r="50414" b="12103"/>
          <a:stretch/>
        </p:blipFill>
        <p:spPr>
          <a:xfrm>
            <a:off x="4976172" y="1188357"/>
            <a:ext cx="5706222" cy="4981580"/>
          </a:xfrm>
          <a:prstGeom prst="rect">
            <a:avLst/>
          </a:prstGeom>
          <a:ln w="12700"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F6582D3-AD8F-4273-9545-9D7BD74F02D3}"/>
              </a:ext>
            </a:extLst>
          </p:cNvPr>
          <p:cNvSpPr/>
          <p:nvPr/>
        </p:nvSpPr>
        <p:spPr>
          <a:xfrm flipV="1">
            <a:off x="1403287" y="4352463"/>
            <a:ext cx="2860895" cy="330878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92500" lnSpcReduction="20000"/>
          </a:bodyPr>
          <a:lstStyle/>
          <a:p>
            <a:pPr algn="ctr"/>
            <a:endParaRPr lang="en-US" sz="2000" dirty="0" err="1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B7675C-A8A3-4458-B5A2-28F098C2A772}"/>
              </a:ext>
            </a:extLst>
          </p:cNvPr>
          <p:cNvSpPr/>
          <p:nvPr/>
        </p:nvSpPr>
        <p:spPr>
          <a:xfrm>
            <a:off x="4662533" y="3886661"/>
            <a:ext cx="1756374" cy="931604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Base radius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BDB2F6C-CDCB-4CA8-987C-41DD7D15FD6A}"/>
              </a:ext>
            </a:extLst>
          </p:cNvPr>
          <p:cNvCxnSpPr>
            <a:cxnSpLocks/>
            <a:endCxn id="3" idx="3"/>
          </p:cNvCxnSpPr>
          <p:nvPr/>
        </p:nvCxnSpPr>
        <p:spPr>
          <a:xfrm flipH="1">
            <a:off x="4264182" y="4352464"/>
            <a:ext cx="398352" cy="16543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E50EDFB6-21AD-4949-8213-DC3986F328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920" t="50115" r="50414" b="12103"/>
          <a:stretch/>
        </p:blipFill>
        <p:spPr>
          <a:xfrm>
            <a:off x="1438686" y="5744423"/>
            <a:ext cx="1585867" cy="331061"/>
          </a:xfrm>
          <a:prstGeom prst="rect">
            <a:avLst/>
          </a:prstGeom>
          <a:ln w="12700">
            <a:noFill/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DDD2FC6-6913-4D70-AE71-852B961B5D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920" t="50115" r="50414" b="12103"/>
          <a:stretch/>
        </p:blipFill>
        <p:spPr>
          <a:xfrm>
            <a:off x="1509606" y="5578892"/>
            <a:ext cx="615696" cy="331061"/>
          </a:xfrm>
          <a:prstGeom prst="rect">
            <a:avLst/>
          </a:prstGeom>
          <a:ln w="12700">
            <a:noFill/>
          </a:ln>
        </p:spPr>
      </p:pic>
    </p:spTree>
    <p:extLst>
      <p:ext uri="{BB962C8B-B14F-4D97-AF65-F5344CB8AC3E}">
        <p14:creationId xmlns:p14="http://schemas.microsoft.com/office/powerpoint/2010/main" val="1248757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F008C-2930-43E7-9CEA-D776B32C2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the App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EAF55-28B4-4748-A6FF-E1DEF768EAE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3C2CCE9-65D5-4615-9B27-785F94F466C1}" type="datetime3">
              <a:rPr lang="en-US" smtClean="0"/>
              <a:t>13 August 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9CEE6-6536-4111-99D3-62F15165496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0BC40-5420-48D2-BF84-71F1E05B065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7</a:t>
            </a:fld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C980F79-1BBF-4A3C-955A-4D64C1042C74}"/>
              </a:ext>
            </a:extLst>
          </p:cNvPr>
          <p:cNvGrpSpPr/>
          <p:nvPr/>
        </p:nvGrpSpPr>
        <p:grpSpPr>
          <a:xfrm>
            <a:off x="1284514" y="967177"/>
            <a:ext cx="9622971" cy="5202760"/>
            <a:chOff x="1284514" y="967177"/>
            <a:chExt cx="9622971" cy="520276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7C3FE03-208D-4BFA-858F-C510244911A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634" b="404"/>
            <a:stretch/>
          </p:blipFill>
          <p:spPr>
            <a:xfrm>
              <a:off x="1284514" y="967177"/>
              <a:ext cx="9622971" cy="5202760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843C00E-0D1E-48FB-9ECB-D211D83A98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41920" t="50115" r="50414" b="12103"/>
            <a:stretch/>
          </p:blipFill>
          <p:spPr>
            <a:xfrm>
              <a:off x="4662533" y="1181100"/>
              <a:ext cx="253499" cy="4988837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922EEBD-9848-48CB-8FA0-B9D9CB68511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41920" t="50115" r="50414" b="12103"/>
            <a:stretch/>
          </p:blipFill>
          <p:spPr>
            <a:xfrm>
              <a:off x="1284514" y="1188357"/>
              <a:ext cx="9622971" cy="45719"/>
            </a:xfrm>
            <a:prstGeom prst="rect">
              <a:avLst/>
            </a:prstGeom>
            <a:ln w="12700">
              <a:noFill/>
            </a:ln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CF6582D3-AD8F-4273-9545-9D7BD74F02D3}"/>
              </a:ext>
            </a:extLst>
          </p:cNvPr>
          <p:cNvSpPr/>
          <p:nvPr/>
        </p:nvSpPr>
        <p:spPr>
          <a:xfrm>
            <a:off x="1394234" y="4672039"/>
            <a:ext cx="3078178" cy="1452180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en-US" sz="2000" dirty="0" err="1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B95A650-1616-49F2-9893-67DFCC9CA0E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920" t="50115" r="50414" b="12103"/>
          <a:stretch/>
        </p:blipFill>
        <p:spPr>
          <a:xfrm>
            <a:off x="4976172" y="1188357"/>
            <a:ext cx="5706222" cy="4981580"/>
          </a:xfrm>
          <a:prstGeom prst="rect">
            <a:avLst/>
          </a:prstGeom>
          <a:ln w="12700">
            <a:noFill/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0B7675C-A8A3-4458-B5A2-28F098C2A772}"/>
              </a:ext>
            </a:extLst>
          </p:cNvPr>
          <p:cNvSpPr/>
          <p:nvPr/>
        </p:nvSpPr>
        <p:spPr>
          <a:xfrm>
            <a:off x="4328635" y="3466397"/>
            <a:ext cx="1982709" cy="931604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lnSpcReduction="10000"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Follower characteristics input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BDB2F6C-CDCB-4CA8-987C-41DD7D15FD6A}"/>
              </a:ext>
            </a:extLst>
          </p:cNvPr>
          <p:cNvCxnSpPr>
            <a:cxnSpLocks/>
            <a:stCxn id="7" idx="1"/>
            <a:endCxn id="3" idx="0"/>
          </p:cNvCxnSpPr>
          <p:nvPr/>
        </p:nvCxnSpPr>
        <p:spPr>
          <a:xfrm flipH="1">
            <a:off x="2933323" y="3932199"/>
            <a:ext cx="1395312" cy="73984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C66DD648-87FE-4144-AE53-306C5DD3622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920" t="50115" r="50414" b="12103"/>
          <a:stretch/>
        </p:blipFill>
        <p:spPr>
          <a:xfrm>
            <a:off x="1438686" y="5744423"/>
            <a:ext cx="1585867" cy="331061"/>
          </a:xfrm>
          <a:prstGeom prst="rect">
            <a:avLst/>
          </a:prstGeom>
          <a:ln w="12700">
            <a:noFill/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6E3102C-AB42-497B-BD2C-D53C3A9FBA7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920" t="50115" r="50414" b="12103"/>
          <a:stretch/>
        </p:blipFill>
        <p:spPr>
          <a:xfrm>
            <a:off x="1509606" y="5578892"/>
            <a:ext cx="615696" cy="331061"/>
          </a:xfrm>
          <a:prstGeom prst="rect">
            <a:avLst/>
          </a:prstGeom>
          <a:ln w="12700">
            <a:noFill/>
          </a:ln>
        </p:spPr>
      </p:pic>
    </p:spTree>
    <p:extLst>
      <p:ext uri="{BB962C8B-B14F-4D97-AF65-F5344CB8AC3E}">
        <p14:creationId xmlns:p14="http://schemas.microsoft.com/office/powerpoint/2010/main" val="1628824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F008C-2930-43E7-9CEA-D776B32C2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the App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EAF55-28B4-4748-A6FF-E1DEF768EAE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3C2CCE9-65D5-4615-9B27-785F94F466C1}" type="datetime3">
              <a:rPr lang="en-US" smtClean="0"/>
              <a:t>13 August 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9CEE6-6536-4111-99D3-62F15165496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0BC40-5420-48D2-BF84-71F1E05B065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8</a:t>
            </a:fld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C980F79-1BBF-4A3C-955A-4D64C1042C74}"/>
              </a:ext>
            </a:extLst>
          </p:cNvPr>
          <p:cNvGrpSpPr/>
          <p:nvPr/>
        </p:nvGrpSpPr>
        <p:grpSpPr>
          <a:xfrm>
            <a:off x="1284514" y="967177"/>
            <a:ext cx="9622971" cy="5202760"/>
            <a:chOff x="1284514" y="967177"/>
            <a:chExt cx="9622971" cy="520276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7C3FE03-208D-4BFA-858F-C510244911A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634" b="404"/>
            <a:stretch/>
          </p:blipFill>
          <p:spPr>
            <a:xfrm>
              <a:off x="1284514" y="967177"/>
              <a:ext cx="9622971" cy="5202760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843C00E-0D1E-48FB-9ECB-D211D83A98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41920" t="50115" r="50414" b="12103"/>
            <a:stretch/>
          </p:blipFill>
          <p:spPr>
            <a:xfrm>
              <a:off x="4662533" y="1181100"/>
              <a:ext cx="253499" cy="4988837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922EEBD-9848-48CB-8FA0-B9D9CB68511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41920" t="50115" r="50414" b="12103"/>
            <a:stretch/>
          </p:blipFill>
          <p:spPr>
            <a:xfrm>
              <a:off x="1284514" y="1188357"/>
              <a:ext cx="9622971" cy="45719"/>
            </a:xfrm>
            <a:prstGeom prst="rect">
              <a:avLst/>
            </a:prstGeom>
            <a:ln w="12700">
              <a:noFill/>
            </a:ln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CF6582D3-AD8F-4273-9545-9D7BD74F02D3}"/>
              </a:ext>
            </a:extLst>
          </p:cNvPr>
          <p:cNvSpPr/>
          <p:nvPr/>
        </p:nvSpPr>
        <p:spPr>
          <a:xfrm>
            <a:off x="3349782" y="5744423"/>
            <a:ext cx="978853" cy="379795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92500" lnSpcReduction="10000"/>
          </a:bodyPr>
          <a:lstStyle/>
          <a:p>
            <a:pPr algn="ctr"/>
            <a:endParaRPr lang="en-US" sz="2000" dirty="0" err="1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5F95E47-9485-4A97-9316-E0AAEC42205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920" t="50115" r="50414" b="12103"/>
          <a:stretch/>
        </p:blipFill>
        <p:spPr>
          <a:xfrm>
            <a:off x="4976172" y="1188357"/>
            <a:ext cx="5706222" cy="4981580"/>
          </a:xfrm>
          <a:prstGeom prst="rect">
            <a:avLst/>
          </a:prstGeom>
          <a:ln w="12700">
            <a:noFill/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0B7675C-A8A3-4458-B5A2-28F098C2A772}"/>
              </a:ext>
            </a:extLst>
          </p:cNvPr>
          <p:cNvSpPr/>
          <p:nvPr/>
        </p:nvSpPr>
        <p:spPr>
          <a:xfrm>
            <a:off x="4464437" y="4738039"/>
            <a:ext cx="1982709" cy="931604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Run Generator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BDB2F6C-CDCB-4CA8-987C-41DD7D15FD6A}"/>
              </a:ext>
            </a:extLst>
          </p:cNvPr>
          <p:cNvCxnSpPr>
            <a:cxnSpLocks/>
            <a:stCxn id="7" idx="1"/>
            <a:endCxn id="3" idx="0"/>
          </p:cNvCxnSpPr>
          <p:nvPr/>
        </p:nvCxnSpPr>
        <p:spPr>
          <a:xfrm flipH="1">
            <a:off x="3839209" y="5203841"/>
            <a:ext cx="625228" cy="540582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D7ED7A8F-DD49-4DE2-9FFE-7C478B3B6E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920" t="50115" r="50414" b="12103"/>
          <a:stretch/>
        </p:blipFill>
        <p:spPr>
          <a:xfrm>
            <a:off x="1438686" y="5744423"/>
            <a:ext cx="1585867" cy="331061"/>
          </a:xfrm>
          <a:prstGeom prst="rect">
            <a:avLst/>
          </a:prstGeom>
          <a:ln w="12700">
            <a:noFill/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CCFE92D-90B7-41F0-9130-B021DE4D8B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920" t="50115" r="50414" b="12103"/>
          <a:stretch/>
        </p:blipFill>
        <p:spPr>
          <a:xfrm>
            <a:off x="1509606" y="5578892"/>
            <a:ext cx="615696" cy="331061"/>
          </a:xfrm>
          <a:prstGeom prst="rect">
            <a:avLst/>
          </a:prstGeom>
          <a:ln w="12700">
            <a:noFill/>
          </a:ln>
        </p:spPr>
      </p:pic>
    </p:spTree>
    <p:extLst>
      <p:ext uri="{BB962C8B-B14F-4D97-AF65-F5344CB8AC3E}">
        <p14:creationId xmlns:p14="http://schemas.microsoft.com/office/powerpoint/2010/main" val="531981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F008C-2930-43E7-9CEA-D776B32C2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the App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EAF55-28B4-4748-A6FF-E1DEF768EAE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3C2CCE9-65D5-4615-9B27-785F94F466C1}" type="datetime3">
              <a:rPr lang="en-US" smtClean="0"/>
              <a:t>13 August 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9CEE6-6536-4111-99D3-62F15165496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0BC40-5420-48D2-BF84-71F1E05B065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9</a:t>
            </a:fld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C980F79-1BBF-4A3C-955A-4D64C1042C74}"/>
              </a:ext>
            </a:extLst>
          </p:cNvPr>
          <p:cNvGrpSpPr/>
          <p:nvPr/>
        </p:nvGrpSpPr>
        <p:grpSpPr>
          <a:xfrm>
            <a:off x="1284514" y="967177"/>
            <a:ext cx="9622971" cy="5202760"/>
            <a:chOff x="1284514" y="967177"/>
            <a:chExt cx="9622971" cy="520276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7C3FE03-208D-4BFA-858F-C510244911A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634" b="404"/>
            <a:stretch/>
          </p:blipFill>
          <p:spPr>
            <a:xfrm>
              <a:off x="1284514" y="967177"/>
              <a:ext cx="9622971" cy="5202760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843C00E-0D1E-48FB-9ECB-D211D83A98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41920" t="50115" r="50414" b="12103"/>
            <a:stretch/>
          </p:blipFill>
          <p:spPr>
            <a:xfrm>
              <a:off x="4662533" y="1181100"/>
              <a:ext cx="253499" cy="4988837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922EEBD-9848-48CB-8FA0-B9D9CB68511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41920" t="50115" r="50414" b="12103"/>
            <a:stretch/>
          </p:blipFill>
          <p:spPr>
            <a:xfrm>
              <a:off x="1284514" y="1188357"/>
              <a:ext cx="9622971" cy="45719"/>
            </a:xfrm>
            <a:prstGeom prst="rect">
              <a:avLst/>
            </a:prstGeom>
            <a:ln w="12700">
              <a:noFill/>
            </a:ln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D7ED7A8F-DD49-4DE2-9FFE-7C478B3B6E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920" t="50115" r="50414" b="12103"/>
          <a:stretch/>
        </p:blipFill>
        <p:spPr>
          <a:xfrm>
            <a:off x="1438686" y="5744423"/>
            <a:ext cx="1585867" cy="331061"/>
          </a:xfrm>
          <a:prstGeom prst="rect">
            <a:avLst/>
          </a:prstGeom>
          <a:ln w="12700">
            <a:noFill/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CCFE92D-90B7-41F0-9130-B021DE4D8B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920" t="50115" r="50414" b="12103"/>
          <a:stretch/>
        </p:blipFill>
        <p:spPr>
          <a:xfrm>
            <a:off x="1509606" y="5578892"/>
            <a:ext cx="615696" cy="331061"/>
          </a:xfrm>
          <a:prstGeom prst="rect">
            <a:avLst/>
          </a:prstGeom>
          <a:ln w="12700">
            <a:noFill/>
          </a:ln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B2C2E5D-9F2A-4F97-88A7-9C5C8869C3D7}"/>
              </a:ext>
            </a:extLst>
          </p:cNvPr>
          <p:cNvSpPr/>
          <p:nvPr/>
        </p:nvSpPr>
        <p:spPr>
          <a:xfrm>
            <a:off x="5029548" y="1197047"/>
            <a:ext cx="5744076" cy="2186234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en-US" sz="2000" dirty="0" err="1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50419E-7877-4363-B282-91551BA4D095}"/>
              </a:ext>
            </a:extLst>
          </p:cNvPr>
          <p:cNvSpPr/>
          <p:nvPr/>
        </p:nvSpPr>
        <p:spPr>
          <a:xfrm>
            <a:off x="2806573" y="3144751"/>
            <a:ext cx="1982709" cy="931604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Follower motion graphs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1EE04A0-4059-4D82-8F14-EDE5469311A8}"/>
              </a:ext>
            </a:extLst>
          </p:cNvPr>
          <p:cNvCxnSpPr>
            <a:cxnSpLocks/>
            <a:stCxn id="18" idx="3"/>
            <a:endCxn id="17" idx="1"/>
          </p:cNvCxnSpPr>
          <p:nvPr/>
        </p:nvCxnSpPr>
        <p:spPr>
          <a:xfrm flipV="1">
            <a:off x="4789282" y="2290164"/>
            <a:ext cx="240266" cy="1320389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9B4D3D0F-2DE5-4A10-BC0D-78762D320554}"/>
              </a:ext>
            </a:extLst>
          </p:cNvPr>
          <p:cNvSpPr/>
          <p:nvPr/>
        </p:nvSpPr>
        <p:spPr>
          <a:xfrm>
            <a:off x="6427261" y="3428999"/>
            <a:ext cx="2689579" cy="2826945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en-US" sz="2000" dirty="0" err="1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5E47DF7-F654-463D-B58C-70FC1A770689}"/>
              </a:ext>
            </a:extLst>
          </p:cNvPr>
          <p:cNvSpPr/>
          <p:nvPr/>
        </p:nvSpPr>
        <p:spPr>
          <a:xfrm>
            <a:off x="3821895" y="4200839"/>
            <a:ext cx="1982709" cy="931604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Generated Cam animation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A10CAC3-C3A4-4D90-A65F-89AAEB899583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5817429" y="4666641"/>
            <a:ext cx="609832" cy="175831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4924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F008C-2930-43E7-9CEA-D776B32C2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the App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EAF55-28B4-4748-A6FF-E1DEF768EAE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3C2CCE9-65D5-4615-9B27-785F94F466C1}" type="datetime3">
              <a:rPr lang="en-US" smtClean="0"/>
              <a:t>13 August 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9CEE6-6536-4111-99D3-62F15165496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0BC40-5420-48D2-BF84-71F1E05B065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10</a:t>
            </a:fld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C980F79-1BBF-4A3C-955A-4D64C1042C74}"/>
              </a:ext>
            </a:extLst>
          </p:cNvPr>
          <p:cNvGrpSpPr/>
          <p:nvPr/>
        </p:nvGrpSpPr>
        <p:grpSpPr>
          <a:xfrm>
            <a:off x="1284514" y="967177"/>
            <a:ext cx="9622971" cy="5202760"/>
            <a:chOff x="1284514" y="967177"/>
            <a:chExt cx="9622971" cy="520276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7C3FE03-208D-4BFA-858F-C510244911A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634" b="404"/>
            <a:stretch/>
          </p:blipFill>
          <p:spPr>
            <a:xfrm>
              <a:off x="1284514" y="967177"/>
              <a:ext cx="9622971" cy="5202760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843C00E-0D1E-48FB-9ECB-D211D83A98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41920" t="50115" r="50414" b="12103"/>
            <a:stretch/>
          </p:blipFill>
          <p:spPr>
            <a:xfrm>
              <a:off x="4662533" y="1181100"/>
              <a:ext cx="253499" cy="4988837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922EEBD-9848-48CB-8FA0-B9D9CB68511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41920" t="50115" r="50414" b="12103"/>
            <a:stretch/>
          </p:blipFill>
          <p:spPr>
            <a:xfrm>
              <a:off x="1284514" y="1188357"/>
              <a:ext cx="9622971" cy="45719"/>
            </a:xfrm>
            <a:prstGeom prst="rect">
              <a:avLst/>
            </a:prstGeom>
            <a:ln w="12700">
              <a:noFill/>
            </a:ln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D7ED7A8F-DD49-4DE2-9FFE-7C478B3B6E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920" t="50115" r="50414" b="12103"/>
          <a:stretch/>
        </p:blipFill>
        <p:spPr>
          <a:xfrm>
            <a:off x="1438686" y="5744423"/>
            <a:ext cx="1585867" cy="331061"/>
          </a:xfrm>
          <a:prstGeom prst="rect">
            <a:avLst/>
          </a:prstGeom>
          <a:ln w="12700">
            <a:noFill/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CCFE92D-90B7-41F0-9130-B021DE4D8B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920" t="50115" r="50414" b="12103"/>
          <a:stretch/>
        </p:blipFill>
        <p:spPr>
          <a:xfrm>
            <a:off x="1509606" y="5578892"/>
            <a:ext cx="615696" cy="331061"/>
          </a:xfrm>
          <a:prstGeom prst="rect">
            <a:avLst/>
          </a:prstGeom>
          <a:ln w="12700">
            <a:noFill/>
          </a:ln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9B4D3D0F-2DE5-4A10-BC0D-78762D320554}"/>
              </a:ext>
            </a:extLst>
          </p:cNvPr>
          <p:cNvSpPr/>
          <p:nvPr/>
        </p:nvSpPr>
        <p:spPr>
          <a:xfrm>
            <a:off x="1284515" y="1053186"/>
            <a:ext cx="154171" cy="193908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40000" lnSpcReduction="20000"/>
          </a:bodyPr>
          <a:lstStyle/>
          <a:p>
            <a:pPr algn="ctr"/>
            <a:endParaRPr lang="en-US" sz="2000" dirty="0" err="1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5E47DF7-F654-463D-B58C-70FC1A770689}"/>
              </a:ext>
            </a:extLst>
          </p:cNvPr>
          <p:cNvSpPr/>
          <p:nvPr/>
        </p:nvSpPr>
        <p:spPr>
          <a:xfrm>
            <a:off x="2806573" y="3183228"/>
            <a:ext cx="1982709" cy="931604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62500" lnSpcReduction="20000"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In the “File” tab, you can save and load different profiles. There are some examples already saved in the “Models” folder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A10CAC3-C3A4-4D90-A65F-89AAEB899583}"/>
              </a:ext>
            </a:extLst>
          </p:cNvPr>
          <p:cNvCxnSpPr>
            <a:cxnSpLocks/>
            <a:stCxn id="28" idx="1"/>
            <a:endCxn id="27" idx="2"/>
          </p:cNvCxnSpPr>
          <p:nvPr/>
        </p:nvCxnSpPr>
        <p:spPr>
          <a:xfrm flipH="1" flipV="1">
            <a:off x="1361601" y="1247094"/>
            <a:ext cx="1444972" cy="2401936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85223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F008C-2930-43E7-9CEA-D776B32C2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Importing into CREO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EAF55-28B4-4748-A6FF-E1DEF768EAE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3C2CCE9-65D5-4615-9B27-785F94F466C1}" type="datetime3">
              <a:rPr lang="en-US" smtClean="0"/>
              <a:t>13 August 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9CEE6-6536-4111-99D3-62F15165496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0BC40-5420-48D2-BF84-71F1E05B065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7ED7A8F-DD49-4DE2-9FFE-7C478B3B6E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920" t="50115" r="50414" b="12103"/>
          <a:stretch/>
        </p:blipFill>
        <p:spPr>
          <a:xfrm>
            <a:off x="1438686" y="5744423"/>
            <a:ext cx="1585867" cy="331061"/>
          </a:xfrm>
          <a:prstGeom prst="rect">
            <a:avLst/>
          </a:prstGeom>
          <a:ln w="12700">
            <a:noFill/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CCFE92D-90B7-41F0-9130-B021DE4D8B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920" t="50115" r="50414" b="12103"/>
          <a:stretch/>
        </p:blipFill>
        <p:spPr>
          <a:xfrm>
            <a:off x="1509606" y="5578892"/>
            <a:ext cx="615696" cy="331061"/>
          </a:xfrm>
          <a:prstGeom prst="rect">
            <a:avLst/>
          </a:prstGeom>
          <a:ln w="12700"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9F3851-7F06-4996-AD9B-9CDA9473EDD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567" t="16837" b="59169"/>
          <a:stretch/>
        </p:blipFill>
        <p:spPr>
          <a:xfrm>
            <a:off x="457200" y="1181100"/>
            <a:ext cx="5679095" cy="1645467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F3971188-44C3-4A97-840B-5E0BA813BB53}"/>
              </a:ext>
            </a:extLst>
          </p:cNvPr>
          <p:cNvSpPr/>
          <p:nvPr/>
        </p:nvSpPr>
        <p:spPr>
          <a:xfrm>
            <a:off x="479835" y="2181883"/>
            <a:ext cx="5789691" cy="185598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32500" lnSpcReduction="20000"/>
          </a:bodyPr>
          <a:lstStyle/>
          <a:p>
            <a:pPr algn="ctr"/>
            <a:endParaRPr lang="en-US" sz="2000" dirty="0" err="1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93F016-AD71-44E8-BAF7-5741CDD6DF7E}"/>
              </a:ext>
            </a:extLst>
          </p:cNvPr>
          <p:cNvSpPr/>
          <p:nvPr/>
        </p:nvSpPr>
        <p:spPr>
          <a:xfrm>
            <a:off x="8062111" y="1072229"/>
            <a:ext cx="2399168" cy="931604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92500" lnSpcReduction="10000"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CSV file which includes the points for the cam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60DE7B6-0E1F-4CD2-9E40-F0BC7CD0BB83}"/>
              </a:ext>
            </a:extLst>
          </p:cNvPr>
          <p:cNvCxnSpPr>
            <a:cxnSpLocks/>
            <a:stCxn id="22" idx="1"/>
            <a:endCxn id="21" idx="3"/>
          </p:cNvCxnSpPr>
          <p:nvPr/>
        </p:nvCxnSpPr>
        <p:spPr>
          <a:xfrm flipH="1">
            <a:off x="6269526" y="1538031"/>
            <a:ext cx="1792585" cy="736651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28D76D1F-6FA4-48B5-AB53-556C94E12C5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4974" y="2941925"/>
            <a:ext cx="11399826" cy="5029200"/>
          </a:xfrm>
        </p:spPr>
        <p:txBody>
          <a:bodyPr/>
          <a:lstStyle/>
          <a:p>
            <a:r>
              <a:rPr lang="en-US" dirty="0"/>
              <a:t>Open the points.csv file</a:t>
            </a:r>
          </a:p>
          <a:p>
            <a:r>
              <a:rPr lang="en-US" dirty="0"/>
              <a:t>Save it as a .txt file</a:t>
            </a:r>
          </a:p>
          <a:p>
            <a:r>
              <a:rPr lang="en-US" dirty="0"/>
              <a:t>Manually change it from a .txt file into a .pts file (remove the .txt and add .pts in file name)</a:t>
            </a:r>
          </a:p>
        </p:txBody>
      </p:sp>
    </p:spTree>
    <p:extLst>
      <p:ext uri="{BB962C8B-B14F-4D97-AF65-F5344CB8AC3E}">
        <p14:creationId xmlns:p14="http://schemas.microsoft.com/office/powerpoint/2010/main" val="4763185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F008C-2930-43E7-9CEA-D776B32C2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the App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EAF55-28B4-4748-A6FF-E1DEF768EAE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3C2CCE9-65D5-4615-9B27-785F94F466C1}" type="datetime3">
              <a:rPr lang="en-US" smtClean="0"/>
              <a:t>13 August 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9CEE6-6536-4111-99D3-62F15165496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0BC40-5420-48D2-BF84-71F1E05B065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12</a:t>
            </a:fld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C980F79-1BBF-4A3C-955A-4D64C1042C74}"/>
              </a:ext>
            </a:extLst>
          </p:cNvPr>
          <p:cNvGrpSpPr/>
          <p:nvPr/>
        </p:nvGrpSpPr>
        <p:grpSpPr>
          <a:xfrm>
            <a:off x="1284514" y="967177"/>
            <a:ext cx="9622971" cy="5202760"/>
            <a:chOff x="1284514" y="967177"/>
            <a:chExt cx="9622971" cy="520276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7C3FE03-208D-4BFA-858F-C510244911A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634" b="404"/>
            <a:stretch/>
          </p:blipFill>
          <p:spPr>
            <a:xfrm>
              <a:off x="1284514" y="967177"/>
              <a:ext cx="9622971" cy="5202760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843C00E-0D1E-48FB-9ECB-D211D83A98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41920" t="50115" r="50414" b="12103"/>
            <a:stretch/>
          </p:blipFill>
          <p:spPr>
            <a:xfrm>
              <a:off x="4662533" y="1181100"/>
              <a:ext cx="253499" cy="4988837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922EEBD-9848-48CB-8FA0-B9D9CB68511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41920" t="50115" r="50414" b="12103"/>
            <a:stretch/>
          </p:blipFill>
          <p:spPr>
            <a:xfrm>
              <a:off x="1284514" y="1188357"/>
              <a:ext cx="9622971" cy="45719"/>
            </a:xfrm>
            <a:prstGeom prst="rect">
              <a:avLst/>
            </a:prstGeom>
            <a:ln w="12700">
              <a:noFill/>
            </a:ln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D7ED7A8F-DD49-4DE2-9FFE-7C478B3B6E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920" t="50115" r="50414" b="12103"/>
          <a:stretch/>
        </p:blipFill>
        <p:spPr>
          <a:xfrm>
            <a:off x="1438686" y="5744423"/>
            <a:ext cx="1585867" cy="331061"/>
          </a:xfrm>
          <a:prstGeom prst="rect">
            <a:avLst/>
          </a:prstGeom>
          <a:ln w="12700">
            <a:noFill/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CCFE92D-90B7-41F0-9130-B021DE4D8B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920" t="50115" r="50414" b="12103"/>
          <a:stretch/>
        </p:blipFill>
        <p:spPr>
          <a:xfrm>
            <a:off x="1509606" y="5578892"/>
            <a:ext cx="615696" cy="331061"/>
          </a:xfrm>
          <a:prstGeom prst="rect">
            <a:avLst/>
          </a:prstGeom>
          <a:ln w="12700">
            <a:noFill/>
          </a:ln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B2C2E5D-9F2A-4F97-88A7-9C5C8869C3D7}"/>
              </a:ext>
            </a:extLst>
          </p:cNvPr>
          <p:cNvSpPr/>
          <p:nvPr/>
        </p:nvSpPr>
        <p:spPr>
          <a:xfrm>
            <a:off x="5029548" y="1197047"/>
            <a:ext cx="5744076" cy="2186234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en-US" sz="2000" dirty="0" err="1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50419E-7877-4363-B282-91551BA4D095}"/>
              </a:ext>
            </a:extLst>
          </p:cNvPr>
          <p:cNvSpPr/>
          <p:nvPr/>
        </p:nvSpPr>
        <p:spPr>
          <a:xfrm>
            <a:off x="2806573" y="3144751"/>
            <a:ext cx="1982709" cy="931604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Follower motion graphs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1EE04A0-4059-4D82-8F14-EDE5469311A8}"/>
              </a:ext>
            </a:extLst>
          </p:cNvPr>
          <p:cNvCxnSpPr>
            <a:cxnSpLocks/>
            <a:stCxn id="18" idx="3"/>
            <a:endCxn id="17" idx="1"/>
          </p:cNvCxnSpPr>
          <p:nvPr/>
        </p:nvCxnSpPr>
        <p:spPr>
          <a:xfrm flipV="1">
            <a:off x="4789282" y="2290164"/>
            <a:ext cx="240266" cy="1320389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9B4D3D0F-2DE5-4A10-BC0D-78762D320554}"/>
              </a:ext>
            </a:extLst>
          </p:cNvPr>
          <p:cNvSpPr/>
          <p:nvPr/>
        </p:nvSpPr>
        <p:spPr>
          <a:xfrm>
            <a:off x="6427261" y="3428999"/>
            <a:ext cx="2689579" cy="2826945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en-US" sz="2000" dirty="0" err="1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5E47DF7-F654-463D-B58C-70FC1A770689}"/>
              </a:ext>
            </a:extLst>
          </p:cNvPr>
          <p:cNvSpPr/>
          <p:nvPr/>
        </p:nvSpPr>
        <p:spPr>
          <a:xfrm>
            <a:off x="3821895" y="4200839"/>
            <a:ext cx="1982709" cy="931604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Generated Cam animation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A10CAC3-C3A4-4D90-A65F-89AAEB899583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5817429" y="4666641"/>
            <a:ext cx="609832" cy="175831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96818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54B95-AA58-4D67-BD6D-91F6DCF2D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Importing into CREO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92370E-0F80-4FD4-BE99-F26DE6C504F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3C2CCE9-65D5-4615-9B27-785F94F466C1}" type="datetime3">
              <a:rPr lang="en-US" smtClean="0"/>
              <a:t>13 August 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80B92A-5AB2-45F9-8C83-D3B15554FD4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F35259-09E2-4BA3-A43C-8C3F01FF573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521A8C-F242-4235-8063-56AD9E6894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41" b="9479"/>
          <a:stretch/>
        </p:blipFill>
        <p:spPr>
          <a:xfrm>
            <a:off x="1078405" y="1013142"/>
            <a:ext cx="10266630" cy="523872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1DF9C68-5DD3-4BF1-BBE1-95DA9AC8CA3F}"/>
              </a:ext>
            </a:extLst>
          </p:cNvPr>
          <p:cNvSpPr/>
          <p:nvPr/>
        </p:nvSpPr>
        <p:spPr>
          <a:xfrm flipV="1">
            <a:off x="5710473" y="1629622"/>
            <a:ext cx="785388" cy="154572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algn="ctr"/>
            <a:endParaRPr lang="en-US" sz="2000" dirty="0" err="1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1937DEB-29E9-4C81-B094-DECBC1B9E6AC}"/>
              </a:ext>
            </a:extLst>
          </p:cNvPr>
          <p:cNvCxnSpPr>
            <a:cxnSpLocks/>
            <a:stCxn id="14" idx="1"/>
            <a:endCxn id="12" idx="3"/>
          </p:cNvCxnSpPr>
          <p:nvPr/>
        </p:nvCxnSpPr>
        <p:spPr>
          <a:xfrm flipH="1" flipV="1">
            <a:off x="6495861" y="1706908"/>
            <a:ext cx="2009870" cy="1722092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AF94E4FE-7176-4A76-9D5D-BB9168774AB9}"/>
              </a:ext>
            </a:extLst>
          </p:cNvPr>
          <p:cNvSpPr/>
          <p:nvPr/>
        </p:nvSpPr>
        <p:spPr>
          <a:xfrm>
            <a:off x="8505731" y="2874173"/>
            <a:ext cx="2399168" cy="1109654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85000" lnSpcReduction="10000"/>
          </a:bodyPr>
          <a:lstStyle/>
          <a:p>
            <a:pPr algn="ctr"/>
            <a:r>
              <a:rPr lang="en-US" sz="2000" dirty="0"/>
              <a:t>In a new sketch, place a coordinate system and an open spline with any shape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1B21F7-BB7D-410F-95BF-828DEE38A477}"/>
              </a:ext>
            </a:extLst>
          </p:cNvPr>
          <p:cNvSpPr/>
          <p:nvPr/>
        </p:nvSpPr>
        <p:spPr>
          <a:xfrm flipV="1">
            <a:off x="4385884" y="1622469"/>
            <a:ext cx="444140" cy="154572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algn="ctr"/>
            <a:endParaRPr lang="en-US" sz="2000" dirty="0" err="1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00694E7-6AC2-4481-AB89-5A4C642FDC9A}"/>
              </a:ext>
            </a:extLst>
          </p:cNvPr>
          <p:cNvCxnSpPr>
            <a:cxnSpLocks/>
          </p:cNvCxnSpPr>
          <p:nvPr/>
        </p:nvCxnSpPr>
        <p:spPr>
          <a:xfrm flipH="1" flipV="1">
            <a:off x="4830024" y="1699756"/>
            <a:ext cx="3675707" cy="1729244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06991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A6A52-A761-4C2B-AA10-D08B4B0A8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Importing into CREO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D9591-F303-4214-BC7F-F5FC847C7CE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3C2CCE9-65D5-4615-9B27-785F94F466C1}" type="datetime3">
              <a:rPr lang="en-US" smtClean="0"/>
              <a:t>13 August 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B9900-9C83-41D4-AD76-0075F2642DC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D9D610-3F17-48CB-A367-3E55180F8D6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5864871-43C9-4CCA-BFF8-C1AC9B5F424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293"/>
          <a:stretch/>
        </p:blipFill>
        <p:spPr>
          <a:xfrm>
            <a:off x="1141780" y="1040726"/>
            <a:ext cx="10266630" cy="521113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3DDD205-6B9F-4C12-8CC8-3095EC2CFFB0}"/>
              </a:ext>
            </a:extLst>
          </p:cNvPr>
          <p:cNvSpPr/>
          <p:nvPr/>
        </p:nvSpPr>
        <p:spPr>
          <a:xfrm flipV="1">
            <a:off x="4268534" y="1963727"/>
            <a:ext cx="918927" cy="999279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en-US" sz="2000" dirty="0" err="1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44FF94F-7A5F-4751-982B-AA6B44FEC912}"/>
              </a:ext>
            </a:extLst>
          </p:cNvPr>
          <p:cNvCxnSpPr>
            <a:cxnSpLocks/>
            <a:stCxn id="13" idx="1"/>
            <a:endCxn id="11" idx="3"/>
          </p:cNvCxnSpPr>
          <p:nvPr/>
        </p:nvCxnSpPr>
        <p:spPr>
          <a:xfrm flipH="1" flipV="1">
            <a:off x="5187461" y="2463366"/>
            <a:ext cx="2720392" cy="693786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8B4ACA31-787F-47CD-86A6-C0594E6EE880}"/>
              </a:ext>
            </a:extLst>
          </p:cNvPr>
          <p:cNvSpPr/>
          <p:nvPr/>
        </p:nvSpPr>
        <p:spPr>
          <a:xfrm>
            <a:off x="7907853" y="2242296"/>
            <a:ext cx="3142367" cy="182971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70000" lnSpcReduction="20000"/>
          </a:bodyPr>
          <a:lstStyle/>
          <a:p>
            <a:r>
              <a:rPr lang="en-US" sz="2000" dirty="0"/>
              <a:t>In the spline settings: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Go to the file tab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Select the coordinate system you just placed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Open the folder for the .pts file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Select the file to fit the spline to the cam points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FDDE76C-BF41-4BD3-8213-65DC4295C001}"/>
              </a:ext>
            </a:extLst>
          </p:cNvPr>
          <p:cNvSpPr/>
          <p:nvPr/>
        </p:nvSpPr>
        <p:spPr>
          <a:xfrm flipV="1">
            <a:off x="4384545" y="2116127"/>
            <a:ext cx="230197" cy="234756"/>
          </a:xfrm>
          <a:prstGeom prst="rect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55000" lnSpcReduction="20000"/>
          </a:bodyPr>
          <a:lstStyle/>
          <a:p>
            <a:pPr algn="ctr"/>
            <a:endParaRPr lang="en-US" sz="2000" dirty="0" err="1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592622E-F705-41D6-9F48-E06C7CA0E8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780" y="3442547"/>
            <a:ext cx="4221703" cy="2736828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185A947E-419C-4CC6-88FF-49FE2DB0B04B}"/>
              </a:ext>
            </a:extLst>
          </p:cNvPr>
          <p:cNvSpPr/>
          <p:nvPr/>
        </p:nvSpPr>
        <p:spPr>
          <a:xfrm flipV="1">
            <a:off x="1929896" y="3961419"/>
            <a:ext cx="641724" cy="15338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algn="ctr"/>
            <a:endParaRPr lang="en-US" sz="2000" dirty="0" err="1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350DF75-5128-4706-A754-F29E7C3E3640}"/>
              </a:ext>
            </a:extLst>
          </p:cNvPr>
          <p:cNvCxnSpPr>
            <a:cxnSpLocks/>
          </p:cNvCxnSpPr>
          <p:nvPr/>
        </p:nvCxnSpPr>
        <p:spPr>
          <a:xfrm flipH="1">
            <a:off x="2571621" y="2242296"/>
            <a:ext cx="1812924" cy="1772586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59935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A6A52-A761-4C2B-AA10-D08B4B0A8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Importing into CREO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D9591-F303-4214-BC7F-F5FC847C7CE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3C2CCE9-65D5-4615-9B27-785F94F466C1}" type="datetime3">
              <a:rPr lang="en-US" smtClean="0"/>
              <a:t>13 August 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B9900-9C83-41D4-AD76-0075F2642DC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0CCEF8-6463-417F-9A59-6B4C78880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780" y="1047893"/>
            <a:ext cx="10195534" cy="520397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D9D610-3F17-48CB-A367-3E55180F8D6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B4ACA31-787F-47CD-86A6-C0594E6EE880}"/>
              </a:ext>
            </a:extLst>
          </p:cNvPr>
          <p:cNvSpPr/>
          <p:nvPr/>
        </p:nvSpPr>
        <p:spPr>
          <a:xfrm>
            <a:off x="8030424" y="1919335"/>
            <a:ext cx="3704375" cy="3074696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70000" lnSpcReduction="20000"/>
          </a:bodyPr>
          <a:lstStyle/>
          <a:p>
            <a:endParaRPr lang="en-US" sz="900" dirty="0"/>
          </a:p>
          <a:p>
            <a:r>
              <a:rPr lang="en-US" sz="2000" dirty="0"/>
              <a:t>The cam is now in CREO as a spline connecting many points</a:t>
            </a:r>
          </a:p>
          <a:p>
            <a:endParaRPr lang="en-US" sz="2000" dirty="0"/>
          </a:p>
          <a:p>
            <a:r>
              <a:rPr lang="en-US" sz="2000" dirty="0"/>
              <a:t>Notes: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Sometimes the spline will have some </a:t>
            </a:r>
            <a:r>
              <a:rPr lang="en-US" sz="2000" dirty="0" err="1"/>
              <a:t>artifacting</a:t>
            </a:r>
            <a:r>
              <a:rPr lang="en-US" sz="2000" dirty="0"/>
              <a:t> and will need to be cleaned up, use the delete segment and point removal tool as necessary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center of the coordinate system is the point at which the cam should be rotated about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app writes over whatever is in the Points.csv file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243295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2750389"/>
      </p:ext>
    </p:extLst>
  </p:cSld>
  <p:clrMapOvr>
    <a:masterClrMapping/>
  </p:clrMapOvr>
</p:sld>
</file>

<file path=ppt/theme/theme1.xml><?xml version="1.0" encoding="utf-8"?>
<a:theme xmlns:a="http://schemas.openxmlformats.org/drawingml/2006/main" name="APL-PowerPoint-Theme_light">
  <a:themeElements>
    <a:clrScheme name="Custom 2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2C73"/>
      </a:accent1>
      <a:accent2>
        <a:srgbClr val="3E8EDE"/>
      </a:accent2>
      <a:accent3>
        <a:srgbClr val="74AA50"/>
      </a:accent3>
      <a:accent4>
        <a:srgbClr val="D2D755"/>
      </a:accent4>
      <a:accent5>
        <a:srgbClr val="FF9E16"/>
      </a:accent5>
      <a:accent6>
        <a:srgbClr val="E03C30"/>
      </a:accent6>
      <a:hlink>
        <a:srgbClr val="0537FF"/>
      </a:hlink>
      <a:folHlink>
        <a:srgbClr val="953A7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solidFill>
            <a:schemeClr val="accent1"/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rmAutofit/>
      </a:bodyPr>
      <a:lstStyle>
        <a:defPPr algn="ctr">
          <a:defRPr sz="20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19050">
          <a:noFill/>
        </a:ln>
      </a:spPr>
      <a:bodyPr wrap="square" rtlCol="0">
        <a:spAutoFit/>
      </a:bodyPr>
      <a:lstStyle>
        <a:defPPr>
          <a:defRPr sz="2000" dirty="0" err="1" smtClean="0">
            <a:solidFill>
              <a:schemeClr val="tx2">
                <a:lumMod val="75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asic-Template_Light-Theme_16x9 (1).potx" id="{42DA4086-622A-4A69-8AB1-C761D80190A1}" vid="{23C67399-E237-4AAA-B2F1-89DE14F7EF2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PublishingExpirationDate xmlns="http://schemas.microsoft.com/sharepoint/v3" xsi:nil="true"/>
    <PublishingStartDate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757BFD2CB1E744298C1AF8AA7379FF3" ma:contentTypeVersion="4" ma:contentTypeDescription="Create a new document." ma:contentTypeScope="" ma:versionID="e78114eed8621f4f046573b7710756e9">
  <xsd:schema xmlns:xsd="http://www.w3.org/2001/XMLSchema" xmlns:xs="http://www.w3.org/2001/XMLSchema" xmlns:p="http://schemas.microsoft.com/office/2006/metadata/properties" xmlns:ns1="http://schemas.microsoft.com/sharepoint/v3" xmlns:ns2="http://schemas.microsoft.com/sharepoint/v4" xmlns:ns3="79de32d1-22ac-42d0-9c42-d61c55952b0c" targetNamespace="http://schemas.microsoft.com/office/2006/metadata/properties" ma:root="true" ma:fieldsID="e95644cd47d5260cc7f92a9c31875574" ns1:_="" ns2:_="" ns3:_="">
    <xsd:import namespace="http://schemas.microsoft.com/sharepoint/v3"/>
    <xsd:import namespace="http://schemas.microsoft.com/sharepoint/v4"/>
    <xsd:import namespace="79de32d1-22ac-42d0-9c42-d61c55952b0c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IconOverlay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hidden="true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0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de32d1-22ac-42d0-9c42-d61c55952b0c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FD810B3-75BC-4625-AF09-188C8F0E877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5824ECF-CBB8-40F5-A3F9-4793A9B63268}">
  <ds:schemaRefs>
    <ds:schemaRef ds:uri="http://schemas.microsoft.com/office/2006/metadata/properties"/>
    <ds:schemaRef ds:uri="http://schemas.microsoft.com/office/infopath/2007/PartnerControls"/>
    <ds:schemaRef ds:uri="http://schemas.microsoft.com/sharepoint/v4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178361B9-84BC-40B8-B126-B461D6D85EB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sharepoint/v4"/>
    <ds:schemaRef ds:uri="79de32d1-22ac-42d0-9c42-d61c55952b0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</TotalTime>
  <Words>369</Words>
  <Application>Microsoft Office PowerPoint</Application>
  <PresentationFormat>Widescreen</PresentationFormat>
  <Paragraphs>83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.AppleSystemUIFont</vt:lpstr>
      <vt:lpstr>Arial</vt:lpstr>
      <vt:lpstr>Calibri</vt:lpstr>
      <vt:lpstr>Courier New</vt:lpstr>
      <vt:lpstr>Helvetica</vt:lpstr>
      <vt:lpstr>Wingdings</vt:lpstr>
      <vt:lpstr>APL-PowerPoint-Theme_light</vt:lpstr>
      <vt:lpstr>How To Use: Cam Generator App</vt:lpstr>
      <vt:lpstr>The Apps Purpose</vt:lpstr>
      <vt:lpstr>App Layout</vt:lpstr>
      <vt:lpstr>App Layout</vt:lpstr>
      <vt:lpstr>Using the App</vt:lpstr>
      <vt:lpstr>Using the App</vt:lpstr>
      <vt:lpstr>Using the App</vt:lpstr>
      <vt:lpstr>Using the App</vt:lpstr>
      <vt:lpstr>Using the App</vt:lpstr>
      <vt:lpstr>Using the App</vt:lpstr>
      <vt:lpstr>Importing into CREO</vt:lpstr>
      <vt:lpstr>Using the App</vt:lpstr>
      <vt:lpstr>Importing into CREO</vt:lpstr>
      <vt:lpstr>Importing into CREO</vt:lpstr>
      <vt:lpstr>Importing into CREO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Microsoft Office User</dc:creator>
  <cp:keywords/>
  <dc:description>Version 1.0</dc:description>
  <cp:lastModifiedBy>Hammer, Jack</cp:lastModifiedBy>
  <cp:revision>7</cp:revision>
  <cp:lastPrinted>2017-08-24T18:44:08Z</cp:lastPrinted>
  <dcterms:created xsi:type="dcterms:W3CDTF">2022-11-30T19:02:01Z</dcterms:created>
  <dcterms:modified xsi:type="dcterms:W3CDTF">2024-08-13T14:53:15Z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0x0101009757BFD2CB1E744298C1AF8AA7379FF3</vt:lpwstr>
  </property>
</Properties>
</file>