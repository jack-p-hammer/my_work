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36"/>
  </p:notesMasterIdLst>
  <p:sldIdLst>
    <p:sldId id="258" r:id="rId5"/>
    <p:sldId id="439" r:id="rId6"/>
    <p:sldId id="408" r:id="rId7"/>
    <p:sldId id="257" r:id="rId8"/>
    <p:sldId id="450" r:id="rId9"/>
    <p:sldId id="432" r:id="rId10"/>
    <p:sldId id="320" r:id="rId11"/>
    <p:sldId id="419" r:id="rId12"/>
    <p:sldId id="420" r:id="rId13"/>
    <p:sldId id="421" r:id="rId14"/>
    <p:sldId id="422" r:id="rId15"/>
    <p:sldId id="449" r:id="rId16"/>
    <p:sldId id="423" r:id="rId17"/>
    <p:sldId id="448" r:id="rId18"/>
    <p:sldId id="457" r:id="rId19"/>
    <p:sldId id="458" r:id="rId20"/>
    <p:sldId id="459" r:id="rId21"/>
    <p:sldId id="451" r:id="rId22"/>
    <p:sldId id="452" r:id="rId23"/>
    <p:sldId id="453" r:id="rId24"/>
    <p:sldId id="454" r:id="rId25"/>
    <p:sldId id="440" r:id="rId26"/>
    <p:sldId id="435" r:id="rId27"/>
    <p:sldId id="461" r:id="rId28"/>
    <p:sldId id="441" r:id="rId29"/>
    <p:sldId id="443" r:id="rId30"/>
    <p:sldId id="460" r:id="rId31"/>
    <p:sldId id="442" r:id="rId32"/>
    <p:sldId id="447" r:id="rId33"/>
    <p:sldId id="261" r:id="rId34"/>
    <p:sldId id="45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FFFFF"/>
    <a:srgbClr val="B2D2F2"/>
    <a:srgbClr val="73A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6405"/>
  </p:normalViewPr>
  <p:slideViewPr>
    <p:cSldViewPr snapToGrid="0" snapToObjects="1" showGuides="1">
      <p:cViewPr>
        <p:scale>
          <a:sx n="100" d="100"/>
          <a:sy n="100" d="100"/>
        </p:scale>
        <p:origin x="53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A375-B218-184B-B243-CB7E0F1616A7}" type="datetimeFigureOut">
              <a:rPr lang="en-US" smtClean="0"/>
              <a:t>8/5/2024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F0F0-3408-9F4A-9B24-898CD7F5D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1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93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weights, note min and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584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Desired cg outlined in ICD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46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944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76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74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5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52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97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Desired cg outlined in ICD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42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Desired cg outlined in ICD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110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42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26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7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0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4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179514"/>
            <a:ext cx="10287000" cy="50307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EA4699-75BE-494C-BD9A-E994FCCCDC34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80F1980-BB30-462A-8444-E0A13D5FE3AD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AF91DCA-BF81-465E-9F1A-7A79772C474D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A4B-C163-4750-8A07-20C27F1DD650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F999DA4-C7B3-416B-B64C-11D36F7936CF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AE6764-091D-4B77-8756-B5D91EEABF5A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E7C0A-B003-47BB-897B-0979338FF81B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124C0E-DA41-468A-ABB3-2DB9ABAF6F00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BCFE-D255-4C4B-BA1D-51B94D9D938B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200-3133-408E-AEAA-04B3ACA33176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499798"/>
            <a:ext cx="12192000" cy="356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181100"/>
            <a:ext cx="102870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36810" y="6500814"/>
            <a:ext cx="1371600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BD90533-0019-439F-9033-E5FD503D101E}" type="datetime3">
              <a:rPr lang="en-US" smtClean="0"/>
              <a:t>5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566791"/>
            <a:ext cx="210893" cy="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7" r:id="rId2"/>
    <p:sldLayoutId id="2147483731" r:id="rId3"/>
    <p:sldLayoutId id="2147483701" r:id="rId4"/>
    <p:sldLayoutId id="2147483732" r:id="rId5"/>
    <p:sldLayoutId id="2147483711" r:id="rId6"/>
    <p:sldLayoutId id="2147483737" r:id="rId7"/>
    <p:sldLayoutId id="2147483719" r:id="rId8"/>
    <p:sldLayoutId id="2147483724" r:id="rId9"/>
    <p:sldLayoutId id="2147483717" r:id="rId10"/>
    <p:sldLayoutId id="2147483720" r:id="rId11"/>
    <p:sldLayoutId id="214748371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Font typeface=".AppleSystemUIFont" charset="-120"/>
        <a:buChar char="-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Wingdings" charset="2"/>
        <a:buChar char="§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Courier New" charset="0"/>
        <a:buChar char="o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 userDrawn="1">
          <p15:clr>
            <a:srgbClr val="F26B43"/>
          </p15:clr>
        </p15:guide>
        <p15:guide id="11" pos="288" userDrawn="1">
          <p15:clr>
            <a:srgbClr val="F26B43"/>
          </p15:clr>
        </p15:guide>
        <p15:guide id="12" pos="7392" userDrawn="1">
          <p15:clr>
            <a:srgbClr val="F26B43"/>
          </p15:clr>
        </p15:guide>
        <p15:guide id="13" orient="horz" pos="3912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6" orient="horz" pos="936" userDrawn="1">
          <p15:clr>
            <a:srgbClr val="F26B43"/>
          </p15:clr>
        </p15:guide>
        <p15:guide id="17" pos="600" userDrawn="1">
          <p15:clr>
            <a:srgbClr val="F26B43"/>
          </p15:clr>
        </p15:guide>
        <p15:guide id="18" pos="7080" userDrawn="1">
          <p15:clr>
            <a:srgbClr val="F26B43"/>
          </p15:clr>
        </p15:guide>
        <p15:guide id="19" pos="4056" userDrawn="1">
          <p15:clr>
            <a:srgbClr val="F26B43"/>
          </p15:clr>
        </p15:guide>
        <p15:guide id="20" pos="3624" userDrawn="1">
          <p15:clr>
            <a:srgbClr val="F26B43"/>
          </p15:clr>
        </p15:guide>
        <p15:guide id="22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Athena MATLAB Ballast Optimizer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Turning broken code to slightly less broken code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Hammer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5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84EF-1FF6-4FF2-9A0D-686F359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Athena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E8BE-5582-4ED2-96E5-06D850AFA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2500" y="1179514"/>
            <a:ext cx="10782300" cy="5030786"/>
          </a:xfrm>
        </p:spPr>
        <p:txBody>
          <a:bodyPr/>
          <a:lstStyle/>
          <a:p>
            <a:r>
              <a:rPr lang="en-US" dirty="0"/>
              <a:t>We want to reduce the complexity for building a telemetry capsule, integrating into aeroshell, and reworking after initial build</a:t>
            </a:r>
          </a:p>
          <a:p>
            <a:pPr lvl="1"/>
            <a:r>
              <a:rPr lang="en-US" dirty="0"/>
              <a:t>Repackaging</a:t>
            </a:r>
          </a:p>
          <a:p>
            <a:pPr lvl="1"/>
            <a:r>
              <a:rPr lang="en-US" dirty="0"/>
              <a:t>Re-ballasting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AAC-6BDB-426F-8045-7C41CFA494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286A-EA03-49D3-93A2-FF8174B2A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6EDE0-A21A-4EB9-8ECE-615EF3CA1A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D46C954-087C-4033-AADB-DAC27E1592DA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820D043-A2E7-4A52-BC78-E112DEF6CA10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C3220F-56CD-4CBA-97C9-84A4DD38C9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EAED"/>
              </a:clrFrom>
              <a:clrTo>
                <a:srgbClr val="E8EAE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2536" y="2517102"/>
            <a:ext cx="9124765" cy="298386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C5D80B-F965-47E1-A39B-0B2959DE48A1}"/>
              </a:ext>
            </a:extLst>
          </p:cNvPr>
          <p:cNvSpPr txBox="1"/>
          <p:nvPr/>
        </p:nvSpPr>
        <p:spPr>
          <a:xfrm>
            <a:off x="5048435" y="5989730"/>
            <a:ext cx="2276096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Athena - Capsule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7CE358-84CB-40F0-AB3D-4D1AB294C0E8}"/>
              </a:ext>
            </a:extLst>
          </p:cNvPr>
          <p:cNvSpPr txBox="1"/>
          <p:nvPr/>
        </p:nvSpPr>
        <p:spPr>
          <a:xfrm>
            <a:off x="5419485" y="2379914"/>
            <a:ext cx="126062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Ballast Rings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42611E-3508-441A-B31A-0E7EA04E76E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49800" y="2687691"/>
            <a:ext cx="1093767" cy="741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52742A-FE30-43ED-BC4B-608BFAA980F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49800" y="2687691"/>
            <a:ext cx="516383" cy="741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B2DA3B-C648-46F4-8C0A-A98DBEC4A5AC}"/>
              </a:ext>
            </a:extLst>
          </p:cNvPr>
          <p:cNvSpPr txBox="1"/>
          <p:nvPr/>
        </p:nvSpPr>
        <p:spPr>
          <a:xfrm>
            <a:off x="8031000" y="2108032"/>
            <a:ext cx="126062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Ballast Ring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83D6EF-4AE5-4EA8-A4DE-3E8DC5B20D9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661315" y="2415809"/>
            <a:ext cx="815626" cy="7514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54C0F8-563A-4BFF-B981-8A69135959D8}"/>
              </a:ext>
            </a:extLst>
          </p:cNvPr>
          <p:cNvSpPr txBox="1"/>
          <p:nvPr/>
        </p:nvSpPr>
        <p:spPr>
          <a:xfrm>
            <a:off x="3686973" y="2517102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Ballast Bowl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493849-F720-4724-9A9E-DDA01435DEF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367704" y="2824879"/>
            <a:ext cx="825103" cy="7192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6609DD1-998E-4555-A776-F0E59EE5201C}"/>
              </a:ext>
            </a:extLst>
          </p:cNvPr>
          <p:cNvSpPr txBox="1"/>
          <p:nvPr/>
        </p:nvSpPr>
        <p:spPr>
          <a:xfrm>
            <a:off x="3150606" y="5039127"/>
            <a:ext cx="158480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Capsule Internals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FBA457-ADBF-4A83-96B4-2EEF74A0C889}"/>
              </a:ext>
            </a:extLst>
          </p:cNvPr>
          <p:cNvSpPr/>
          <p:nvPr/>
        </p:nvSpPr>
        <p:spPr>
          <a:xfrm>
            <a:off x="5278336" y="3327054"/>
            <a:ext cx="3883771" cy="138049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D8B811-9236-4274-BA2D-367E4731C351}"/>
              </a:ext>
            </a:extLst>
          </p:cNvPr>
          <p:cNvCxnSpPr>
            <a:cxnSpLocks/>
          </p:cNvCxnSpPr>
          <p:nvPr/>
        </p:nvCxnSpPr>
        <p:spPr>
          <a:xfrm flipV="1">
            <a:off x="4735415" y="4701893"/>
            <a:ext cx="542921" cy="5213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5B55CC-68FF-45EE-A245-45DC957D7324}"/>
              </a:ext>
            </a:extLst>
          </p:cNvPr>
          <p:cNvSpPr txBox="1"/>
          <p:nvPr/>
        </p:nvSpPr>
        <p:spPr>
          <a:xfrm>
            <a:off x="2109845" y="2824879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Ballast Post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323811-78AC-4555-B349-6708B1C90574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790576" y="3132656"/>
            <a:ext cx="999744" cy="7993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90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F7672DD-2208-4E17-9AF8-4A4E6E2694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8EAED"/>
              </a:clrFrom>
              <a:clrTo>
                <a:srgbClr val="E8EAED">
                  <a:alpha val="0"/>
                </a:srgbClr>
              </a:clrTo>
            </a:clrChange>
          </a:blip>
          <a:srcRect b="3456"/>
          <a:stretch/>
        </p:blipFill>
        <p:spPr>
          <a:xfrm>
            <a:off x="-385677" y="1524350"/>
            <a:ext cx="6167079" cy="49761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85E910-6DFA-4182-AFB5-1507B4FA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Ballast Ring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CBB34-7D38-4FFD-A365-89CE72C291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8E74E-7053-4176-AF9D-858EDE2DF3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C44BF-7A3D-42D6-9DF1-31C60B5C41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A1BE3-8484-446B-AECD-A392582E2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21" b="95821" l="6026" r="94548">
                        <a14:foregroundMark x1="28407" y1="16269" x2="49928" y2="10896"/>
                        <a14:foregroundMark x1="49928" y1="10896" x2="69297" y2="11493"/>
                        <a14:foregroundMark x1="80344" y1="21343" x2="91105" y2="46418"/>
                        <a14:foregroundMark x1="91105" y1="46418" x2="91535" y2="55821"/>
                        <a14:foregroundMark x1="86083" y1="64179" x2="70301" y2="84030"/>
                        <a14:foregroundMark x1="70301" y1="84030" x2="52941" y2="91493"/>
                        <a14:foregroundMark x1="52941" y1="91493" x2="44907" y2="91940"/>
                        <a14:foregroundMark x1="14347" y1="31940" x2="29986" y2="19104"/>
                        <a14:foregroundMark x1="50359" y1="5970" x2="70158" y2="8806"/>
                        <a14:foregroundMark x1="13343" y1="35373" x2="10187" y2="75821"/>
                        <a14:foregroundMark x1="10187" y1="75821" x2="10330" y2="76119"/>
                        <a14:foregroundMark x1="6600" y1="66119" x2="6169" y2="54627"/>
                        <a14:foregroundMark x1="6169" y1="54627" x2="8034" y2="47015"/>
                        <a14:foregroundMark x1="40890" y1="95970" x2="53372" y2="95373"/>
                        <a14:foregroundMark x1="94405" y1="54776" x2="94548" y2="39701"/>
                        <a14:foregroundMark x1="62697" y1="13284" x2="62454" y2="14133"/>
                        <a14:foregroundMark x1="25841" y1="62983" x2="25806" y2="62809"/>
                        <a14:backgroundMark x1="48637" y1="36418" x2="61980" y2="35373"/>
                        <a14:backgroundMark x1="61980" y1="35373" x2="46341" y2="55672"/>
                        <a14:backgroundMark x1="46341" y1="55672" x2="48350" y2="38955"/>
                        <a14:backgroundMark x1="48350" y1="38955" x2="53659" y2="39552"/>
                        <a14:backgroundMark x1="63415" y1="31791" x2="34720" y2="34179"/>
                        <a14:backgroundMark x1="34720" y1="34179" x2="22956" y2="55821"/>
                        <a14:backgroundMark x1="22956" y1="55821" x2="38307" y2="72836"/>
                        <a14:backgroundMark x1="38307" y1="72836" x2="63702" y2="62537"/>
                        <a14:backgroundMark x1="63702" y1="62537" x2="69584" y2="30896"/>
                        <a14:backgroundMark x1="69584" y1="30896" x2="67575" y2="22090"/>
                        <a14:backgroundMark x1="64419" y1="20000" x2="73458" y2="29104"/>
                        <a14:backgroundMark x1="73458" y1="29104" x2="75610" y2="45373"/>
                        <a14:backgroundMark x1="75610" y1="45373" x2="67575" y2="71791"/>
                        <a14:backgroundMark x1="67575" y1="71791" x2="35151" y2="76866"/>
                        <a14:backgroundMark x1="35151" y1="76866" x2="46772" y2="79403"/>
                        <a14:backgroundMark x1="46772" y1="79403" x2="64275" y2="73433"/>
                        <a14:backgroundMark x1="64275" y1="73433" x2="78910" y2="52687"/>
                        <a14:backgroundMark x1="78910" y1="52687" x2="79914" y2="29701"/>
                        <a14:backgroundMark x1="73171" y1="29403" x2="55667" y2="18657"/>
                        <a14:backgroundMark x1="55667" y1="18657" x2="46628" y2="21940"/>
                        <a14:backgroundMark x1="67145" y1="17910" x2="51650" y2="17313"/>
                        <a14:backgroundMark x1="61836" y1="16866" x2="49498" y2="47463"/>
                        <a14:backgroundMark x1="49498" y1="47463" x2="45768" y2="49552"/>
                        <a14:backgroundMark x1="62123" y1="15821" x2="62123" y2="15821"/>
                        <a14:backgroundMark x1="63845" y1="15672" x2="54950" y2="15373"/>
                        <a14:backgroundMark x1="62123" y1="15224" x2="62123" y2="15224"/>
                        <a14:backgroundMark x1="62123" y1="15224" x2="62123" y2="15224"/>
                        <a14:backgroundMark x1="62123" y1="15224" x2="62123" y2="15224"/>
                        <a14:backgroundMark x1="62123" y1="15075" x2="62123" y2="15075"/>
                        <a14:backgroundMark x1="61980" y1="15224" x2="63989" y2="16269"/>
                        <a14:backgroundMark x1="63128" y1="16119" x2="62123" y2="15224"/>
                        <a14:backgroundMark x1="66141" y1="16418" x2="54663" y2="15821"/>
                        <a14:backgroundMark x1="57245" y1="29104" x2="43042" y2="40597"/>
                        <a14:backgroundMark x1="43042" y1="40597" x2="36011" y2="55075"/>
                        <a14:backgroundMark x1="36011" y1="55075" x2="41607" y2="54776"/>
                        <a14:backgroundMark x1="44476" y1="40000" x2="34146" y2="58060"/>
                        <a14:backgroundMark x1="34146" y1="58060" x2="59541" y2="71791"/>
                        <a14:backgroundMark x1="59541" y1="71791" x2="58824" y2="71343"/>
                        <a14:backgroundMark x1="58824" y1="62537" x2="69727" y2="44478"/>
                        <a14:backgroundMark x1="73745" y1="43284" x2="57676" y2="61493"/>
                        <a14:backgroundMark x1="57676" y1="61493" x2="67145" y2="47463"/>
                        <a14:backgroundMark x1="67145" y1="47463" x2="68006" y2="43284"/>
                        <a14:backgroundMark x1="61549" y1="59851" x2="53945" y2="64478"/>
                        <a14:backgroundMark x1="57245" y1="63881" x2="65997" y2="54478"/>
                        <a14:backgroundMark x1="76040" y1="51343" x2="75753" y2="57015"/>
                        <a14:backgroundMark x1="66571" y1="68657" x2="63558" y2="70299"/>
                        <a14:backgroundMark x1="48350" y1="45821" x2="49641" y2="42388"/>
                        <a14:backgroundMark x1="47633" y1="41194" x2="47776" y2="41791"/>
                        <a14:backgroundMark x1="48350" y1="41194" x2="42037" y2="46866"/>
                        <a14:backgroundMark x1="48350" y1="40299" x2="43185" y2="43433"/>
                        <a14:backgroundMark x1="38594" y1="57015" x2="35438" y2="59851"/>
                        <a14:backgroundMark x1="34003" y1="60299" x2="32999" y2="68806"/>
                        <a14:backgroundMark x1="38020" y1="75672" x2="27547" y2="69403"/>
                        <a14:backgroundMark x1="27547" y1="69403" x2="25825" y2="60149"/>
                        <a14:backgroundMark x1="28838" y1="75522" x2="25825" y2="62985"/>
                        <a14:backgroundMark x1="25825" y1="62985" x2="27690" y2="76119"/>
                        <a14:backgroundMark x1="27690" y1="76119" x2="28264" y2="74925"/>
                        <a14:backgroundMark x1="24964" y1="63284" x2="39455" y2="39403"/>
                        <a14:backgroundMark x1="39455" y1="39403" x2="29555" y2="56716"/>
                        <a14:backgroundMark x1="29555" y1="56716" x2="39455" y2="36866"/>
                        <a14:backgroundMark x1="25251" y1="64925" x2="27260" y2="57015"/>
                        <a14:backgroundMark x1="31277" y1="44925" x2="49785" y2="33134"/>
                        <a14:backgroundMark x1="36585" y1="41045" x2="44763" y2="24627"/>
                        <a14:backgroundMark x1="38881" y1="35821" x2="36872" y2="420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8710" y="258781"/>
            <a:ext cx="4199033" cy="4036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0C1C94-A1B8-4037-AEA6-AB520CEE39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36012">
            <a:off x="7403855" y="3882750"/>
            <a:ext cx="5485951" cy="29328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9F4016-50C3-49C1-98DB-720E5FFC9480}"/>
              </a:ext>
            </a:extLst>
          </p:cNvPr>
          <p:cNvSpPr txBox="1"/>
          <p:nvPr/>
        </p:nvSpPr>
        <p:spPr>
          <a:xfrm>
            <a:off x="2536294" y="1246000"/>
            <a:ext cx="1595780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Cartridge Covers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1F87D0-4F64-463D-9B23-487630BFC00E}"/>
              </a:ext>
            </a:extLst>
          </p:cNvPr>
          <p:cNvCxnSpPr>
            <a:cxnSpLocks/>
          </p:cNvCxnSpPr>
          <p:nvPr/>
        </p:nvCxnSpPr>
        <p:spPr>
          <a:xfrm flipH="1">
            <a:off x="9536356" y="3808772"/>
            <a:ext cx="500453" cy="6796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F25AA0-64C8-47B4-A0F4-168D52B6DBF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035030" y="1553777"/>
            <a:ext cx="299154" cy="343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6E46C6-F2B6-4379-9DFD-408BC6E9B051}"/>
              </a:ext>
            </a:extLst>
          </p:cNvPr>
          <p:cNvSpPr txBox="1"/>
          <p:nvPr/>
        </p:nvSpPr>
        <p:spPr>
          <a:xfrm>
            <a:off x="9507375" y="3500995"/>
            <a:ext cx="105886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Cartridges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4A2C22-B51C-408F-9A0B-0BC77D420047}"/>
              </a:ext>
            </a:extLst>
          </p:cNvPr>
          <p:cNvSpPr txBox="1"/>
          <p:nvPr/>
        </p:nvSpPr>
        <p:spPr>
          <a:xfrm>
            <a:off x="5781402" y="5136204"/>
            <a:ext cx="1765181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Stackable cartridge holders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3E454C-7B0A-40D1-A54E-932272B40C36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7546583" y="4824920"/>
            <a:ext cx="926208" cy="5728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4F052F-8839-409F-9710-4AFEB4446A3F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6660EA-E19B-464B-BFCD-0B6A9845A175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22339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659F-FD78-4F81-9DC3-0308818D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Cartridge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0FBA-867F-43AE-98DC-408CF30980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960" y="1181100"/>
            <a:ext cx="2842317" cy="4676701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X-04: Al6061 Cartridge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Weight: 0.02164 lbs.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CEACE-D5AE-4F04-B813-7EE5741D50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4670-30F9-4DEA-90F7-03B93AE918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936D1-C7AA-488B-AE0B-37857C9264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E82D6-1C37-4D9E-BF32-27F598A23D14}"/>
              </a:ext>
            </a:extLst>
          </p:cNvPr>
          <p:cNvSpPr txBox="1">
            <a:spLocks/>
          </p:cNvSpPr>
          <p:nvPr/>
        </p:nvSpPr>
        <p:spPr>
          <a:xfrm>
            <a:off x="4462419" y="1181100"/>
            <a:ext cx="3267162" cy="5030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X-05: Tungsten Cartridge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Weight: 0.1348 lbs.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DF0D0-F75C-42F6-AB5D-B804BCDECA37}"/>
              </a:ext>
            </a:extLst>
          </p:cNvPr>
          <p:cNvSpPr txBox="1">
            <a:spLocks/>
          </p:cNvSpPr>
          <p:nvPr/>
        </p:nvSpPr>
        <p:spPr>
          <a:xfrm>
            <a:off x="8071178" y="1181100"/>
            <a:ext cx="3812447" cy="5030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X-06: Stainless Steel Cartridge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Weight: 0.06184 lbs.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D06685-83D8-4F77-8EF7-4DC4E5F59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04" b="90805" l="9783" r="89946">
                        <a14:foregroundMark x1="46739" y1="9852" x2="73370" y2="9524"/>
                        <a14:foregroundMark x1="69837" y1="6568" x2="58696" y2="7882"/>
                        <a14:foregroundMark x1="90217" y1="31034" x2="90217" y2="31034"/>
                        <a14:foregroundMark x1="33424" y1="90805" x2="33424" y2="908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7603" y="2105636"/>
            <a:ext cx="2563780" cy="42427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4509BA-411D-459A-B8E3-E605975E8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16639" y="1824113"/>
            <a:ext cx="2721524" cy="46893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4B5A81-AEFA-4F81-99F3-0FAF802EC7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8605" y1="13199" x2="28605" y2="13199"/>
                        <a14:foregroundMark x1="28605" y1="13486" x2="68322" y2="13917"/>
                        <a14:foregroundMark x1="28605" y1="13343" x2="11584" y2="68149"/>
                        <a14:foregroundMark x1="11584" y1="68723" x2="27896" y2="13486"/>
                        <a14:foregroundMark x1="28842" y1="13056" x2="68322" y2="13917"/>
                        <a14:foregroundMark x1="46572" y1="13343" x2="67849" y2="14060"/>
                        <a14:foregroundMark x1="68558" y1="13773" x2="27660" y2="12482"/>
                        <a14:foregroundMark x1="27423" y1="13056" x2="13475" y2="6413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5686" y="1824113"/>
            <a:ext cx="2916591" cy="4805825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6F1F35F-CB3B-42BE-B99B-2584DACF8AB0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564DB73-0075-43A1-865C-551671C8DDA5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54646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84EF-1FF6-4FF2-9A0D-686F359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AAC-6BDB-426F-8045-7C41CFA494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286A-EA03-49D3-93A2-FF8174B2A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6EDE0-A21A-4EB9-8ECE-615EF3CA1A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D46C954-087C-4033-AADB-DAC27E1592DA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820D043-A2E7-4A52-BC78-E112DEF6CA10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C3220F-56CD-4CBA-97C9-84A4DD38C9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EAED"/>
              </a:clrFrom>
              <a:clrTo>
                <a:srgbClr val="E8EAE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54371"/>
            <a:ext cx="12076971" cy="39492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C5D80B-F965-47E1-A39B-0B2959DE48A1}"/>
              </a:ext>
            </a:extLst>
          </p:cNvPr>
          <p:cNvSpPr txBox="1"/>
          <p:nvPr/>
        </p:nvSpPr>
        <p:spPr>
          <a:xfrm>
            <a:off x="5048435" y="5989730"/>
            <a:ext cx="2276096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Athena - Capsule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AE6BF-9153-4EF8-9D02-99C0EA0DD901}"/>
              </a:ext>
            </a:extLst>
          </p:cNvPr>
          <p:cNvSpPr txBox="1"/>
          <p:nvPr/>
        </p:nvSpPr>
        <p:spPr>
          <a:xfrm rot="21246226">
            <a:off x="1346398" y="2079515"/>
            <a:ext cx="2083595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75000"/>
                  </a:schemeClr>
                </a:solidFill>
              </a:rPr>
              <a:t>?????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2C4F43-D8B4-4B82-9E1F-62B099A78598}"/>
              </a:ext>
            </a:extLst>
          </p:cNvPr>
          <p:cNvSpPr txBox="1"/>
          <p:nvPr/>
        </p:nvSpPr>
        <p:spPr>
          <a:xfrm>
            <a:off x="3467165" y="4803102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29.134 </a:t>
            </a:r>
            <a:r>
              <a:rPr lang="en-US" sz="1400" dirty="0" err="1">
                <a:solidFill>
                  <a:schemeClr val="accent1"/>
                </a:solidFill>
              </a:rPr>
              <a:t>lbs</a:t>
            </a:r>
            <a:r>
              <a:rPr lang="en-US" sz="1400" dirty="0">
                <a:solidFill>
                  <a:schemeClr val="accent1"/>
                </a:solidFill>
              </a:rPr>
              <a:t>?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06E7BB-EA6B-4ECE-ACCD-C9EA2F6C194A}"/>
              </a:ext>
            </a:extLst>
          </p:cNvPr>
          <p:cNvCxnSpPr>
            <a:cxnSpLocks/>
          </p:cNvCxnSpPr>
          <p:nvPr/>
        </p:nvCxnSpPr>
        <p:spPr>
          <a:xfrm flipV="1">
            <a:off x="4147896" y="3780692"/>
            <a:ext cx="680731" cy="10224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883C50C-B3A6-4887-8E98-CEAA8EAA541A}"/>
              </a:ext>
            </a:extLst>
          </p:cNvPr>
          <p:cNvSpPr txBox="1"/>
          <p:nvPr/>
        </p:nvSpPr>
        <p:spPr>
          <a:xfrm>
            <a:off x="7399947" y="5403629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3.4 </a:t>
            </a:r>
            <a:r>
              <a:rPr lang="en-US" sz="1400" dirty="0" err="1">
                <a:solidFill>
                  <a:schemeClr val="accent1"/>
                </a:solidFill>
              </a:rPr>
              <a:t>lbs</a:t>
            </a:r>
            <a:r>
              <a:rPr lang="en-US" sz="1400" dirty="0">
                <a:solidFill>
                  <a:schemeClr val="accent1"/>
                </a:solidFill>
              </a:rPr>
              <a:t>?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1D56E3-691F-4714-9D89-90A68FB3A9AC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6038485" y="4246737"/>
            <a:ext cx="832335" cy="11568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A4F5E9-1A9D-4105-AACB-CB18396F0087}"/>
              </a:ext>
            </a:extLst>
          </p:cNvPr>
          <p:cNvSpPr txBox="1"/>
          <p:nvPr/>
        </p:nvSpPr>
        <p:spPr>
          <a:xfrm>
            <a:off x="5357754" y="5403629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.000034 </a:t>
            </a:r>
            <a:r>
              <a:rPr lang="en-US" sz="1400" dirty="0" err="1">
                <a:solidFill>
                  <a:schemeClr val="accent1"/>
                </a:solidFill>
              </a:rPr>
              <a:t>lbs</a:t>
            </a:r>
            <a:r>
              <a:rPr lang="en-US" sz="1400" dirty="0">
                <a:solidFill>
                  <a:schemeClr val="accent1"/>
                </a:solidFill>
              </a:rPr>
              <a:t>?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01806A-536A-4233-B025-08E06A2415B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7631723" y="4246737"/>
            <a:ext cx="448955" cy="11568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C5E4545-BE17-4B7D-A603-C15D1041154F}"/>
              </a:ext>
            </a:extLst>
          </p:cNvPr>
          <p:cNvSpPr txBox="1"/>
          <p:nvPr/>
        </p:nvSpPr>
        <p:spPr>
          <a:xfrm>
            <a:off x="10373338" y="5849967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2 </a:t>
            </a:r>
            <a:r>
              <a:rPr lang="en-US" sz="1400" dirty="0" err="1">
                <a:solidFill>
                  <a:schemeClr val="accent1"/>
                </a:solidFill>
              </a:rPr>
              <a:t>lbs</a:t>
            </a:r>
            <a:r>
              <a:rPr lang="en-US" sz="1400" dirty="0">
                <a:solidFill>
                  <a:schemeClr val="accent1"/>
                </a:solidFill>
              </a:rPr>
              <a:t>?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F8F817B-916C-4704-A927-0B3279D7C797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10722611" y="4595737"/>
            <a:ext cx="331458" cy="12542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23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A009-3825-4310-BBC3-BF1DEE6E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Ballast Optimizer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F63A-E461-47AE-A911-0CCE39563C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7597-3389-43F5-A5E1-952723A56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E773-A386-486E-99DE-F6E1DA9C06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F57624-90BB-423A-A58A-745D03DB5888}"/>
              </a:ext>
            </a:extLst>
          </p:cNvPr>
          <p:cNvSpPr/>
          <p:nvPr/>
        </p:nvSpPr>
        <p:spPr>
          <a:xfrm>
            <a:off x="867451" y="1184525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Unballasted CG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A28FD6-AD8A-4416-8277-87D540A88725}"/>
              </a:ext>
            </a:extLst>
          </p:cNvPr>
          <p:cNvSpPr/>
          <p:nvPr/>
        </p:nvSpPr>
        <p:spPr>
          <a:xfrm>
            <a:off x="864484" y="3130026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Desired CG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4DEFE7-2FE2-471C-A576-8F200276509B}"/>
              </a:ext>
            </a:extLst>
          </p:cNvPr>
          <p:cNvSpPr/>
          <p:nvPr/>
        </p:nvSpPr>
        <p:spPr>
          <a:xfrm>
            <a:off x="867451" y="5078952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Locations and limits for ballast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578A31-860E-47D4-9DCC-198F12BA5DF9}"/>
              </a:ext>
            </a:extLst>
          </p:cNvPr>
          <p:cNvSpPr/>
          <p:nvPr/>
        </p:nvSpPr>
        <p:spPr>
          <a:xfrm>
            <a:off x="4959758" y="2491509"/>
            <a:ext cx="2572840" cy="1874982"/>
          </a:xfrm>
          <a:custGeom>
            <a:avLst/>
            <a:gdLst>
              <a:gd name="connsiteX0" fmla="*/ 0 w 2563604"/>
              <a:gd name="connsiteY0" fmla="*/ 312503 h 1874982"/>
              <a:gd name="connsiteX1" fmla="*/ 312503 w 2563604"/>
              <a:gd name="connsiteY1" fmla="*/ 0 h 1874982"/>
              <a:gd name="connsiteX2" fmla="*/ 2251101 w 2563604"/>
              <a:gd name="connsiteY2" fmla="*/ 0 h 1874982"/>
              <a:gd name="connsiteX3" fmla="*/ 2563604 w 2563604"/>
              <a:gd name="connsiteY3" fmla="*/ 312503 h 1874982"/>
              <a:gd name="connsiteX4" fmla="*/ 2563604 w 2563604"/>
              <a:gd name="connsiteY4" fmla="*/ 1562479 h 1874982"/>
              <a:gd name="connsiteX5" fmla="*/ 2251101 w 2563604"/>
              <a:gd name="connsiteY5" fmla="*/ 1874982 h 1874982"/>
              <a:gd name="connsiteX6" fmla="*/ 312503 w 2563604"/>
              <a:gd name="connsiteY6" fmla="*/ 1874982 h 1874982"/>
              <a:gd name="connsiteX7" fmla="*/ 0 w 2563604"/>
              <a:gd name="connsiteY7" fmla="*/ 1562479 h 1874982"/>
              <a:gd name="connsiteX8" fmla="*/ 0 w 2563604"/>
              <a:gd name="connsiteY8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9236 w 2572840"/>
              <a:gd name="connsiteY9" fmla="*/ 312503 h 1874982"/>
              <a:gd name="connsiteX0" fmla="*/ 24461 w 2588065"/>
              <a:gd name="connsiteY0" fmla="*/ 312503 h 1874982"/>
              <a:gd name="connsiteX1" fmla="*/ 336964 w 2588065"/>
              <a:gd name="connsiteY1" fmla="*/ 0 h 1874982"/>
              <a:gd name="connsiteX2" fmla="*/ 2275562 w 2588065"/>
              <a:gd name="connsiteY2" fmla="*/ 0 h 1874982"/>
              <a:gd name="connsiteX3" fmla="*/ 2588065 w 2588065"/>
              <a:gd name="connsiteY3" fmla="*/ 312503 h 1874982"/>
              <a:gd name="connsiteX4" fmla="*/ 2588065 w 2588065"/>
              <a:gd name="connsiteY4" fmla="*/ 1562479 h 1874982"/>
              <a:gd name="connsiteX5" fmla="*/ 2275562 w 2588065"/>
              <a:gd name="connsiteY5" fmla="*/ 1874982 h 1874982"/>
              <a:gd name="connsiteX6" fmla="*/ 336964 w 2588065"/>
              <a:gd name="connsiteY6" fmla="*/ 1874982 h 1874982"/>
              <a:gd name="connsiteX7" fmla="*/ 24461 w 2588065"/>
              <a:gd name="connsiteY7" fmla="*/ 1562479 h 1874982"/>
              <a:gd name="connsiteX8" fmla="*/ 15225 w 2588065"/>
              <a:gd name="connsiteY8" fmla="*/ 1366421 h 1874982"/>
              <a:gd name="connsiteX9" fmla="*/ 19615 w 2588065"/>
              <a:gd name="connsiteY9" fmla="*/ 827237 h 1874982"/>
              <a:gd name="connsiteX10" fmla="*/ 24461 w 2588065"/>
              <a:gd name="connsiteY10" fmla="*/ 312503 h 1874982"/>
              <a:gd name="connsiteX0" fmla="*/ 24461 w 2588065"/>
              <a:gd name="connsiteY0" fmla="*/ 312503 h 1874982"/>
              <a:gd name="connsiteX1" fmla="*/ 336964 w 2588065"/>
              <a:gd name="connsiteY1" fmla="*/ 0 h 1874982"/>
              <a:gd name="connsiteX2" fmla="*/ 2275562 w 2588065"/>
              <a:gd name="connsiteY2" fmla="*/ 0 h 1874982"/>
              <a:gd name="connsiteX3" fmla="*/ 2588065 w 2588065"/>
              <a:gd name="connsiteY3" fmla="*/ 312503 h 1874982"/>
              <a:gd name="connsiteX4" fmla="*/ 2588065 w 2588065"/>
              <a:gd name="connsiteY4" fmla="*/ 1562479 h 1874982"/>
              <a:gd name="connsiteX5" fmla="*/ 2275562 w 2588065"/>
              <a:gd name="connsiteY5" fmla="*/ 1874982 h 1874982"/>
              <a:gd name="connsiteX6" fmla="*/ 336964 w 2588065"/>
              <a:gd name="connsiteY6" fmla="*/ 1874982 h 1874982"/>
              <a:gd name="connsiteX7" fmla="*/ 24461 w 2588065"/>
              <a:gd name="connsiteY7" fmla="*/ 1562479 h 1874982"/>
              <a:gd name="connsiteX8" fmla="*/ 15225 w 2588065"/>
              <a:gd name="connsiteY8" fmla="*/ 1366421 h 1874982"/>
              <a:gd name="connsiteX9" fmla="*/ 19615 w 2588065"/>
              <a:gd name="connsiteY9" fmla="*/ 827237 h 1874982"/>
              <a:gd name="connsiteX10" fmla="*/ 24461 w 2588065"/>
              <a:gd name="connsiteY10" fmla="*/ 312503 h 1874982"/>
              <a:gd name="connsiteX0" fmla="*/ 9352 w 2572956"/>
              <a:gd name="connsiteY0" fmla="*/ 312503 h 1874982"/>
              <a:gd name="connsiteX1" fmla="*/ 321855 w 2572956"/>
              <a:gd name="connsiteY1" fmla="*/ 0 h 1874982"/>
              <a:gd name="connsiteX2" fmla="*/ 2260453 w 2572956"/>
              <a:gd name="connsiteY2" fmla="*/ 0 h 1874982"/>
              <a:gd name="connsiteX3" fmla="*/ 2572956 w 2572956"/>
              <a:gd name="connsiteY3" fmla="*/ 312503 h 1874982"/>
              <a:gd name="connsiteX4" fmla="*/ 2572956 w 2572956"/>
              <a:gd name="connsiteY4" fmla="*/ 1562479 h 1874982"/>
              <a:gd name="connsiteX5" fmla="*/ 2260453 w 2572956"/>
              <a:gd name="connsiteY5" fmla="*/ 1874982 h 1874982"/>
              <a:gd name="connsiteX6" fmla="*/ 321855 w 2572956"/>
              <a:gd name="connsiteY6" fmla="*/ 1874982 h 1874982"/>
              <a:gd name="connsiteX7" fmla="*/ 9352 w 2572956"/>
              <a:gd name="connsiteY7" fmla="*/ 1562479 h 1874982"/>
              <a:gd name="connsiteX8" fmla="*/ 116 w 2572956"/>
              <a:gd name="connsiteY8" fmla="*/ 1366421 h 1874982"/>
              <a:gd name="connsiteX9" fmla="*/ 4506 w 2572956"/>
              <a:gd name="connsiteY9" fmla="*/ 827237 h 1874982"/>
              <a:gd name="connsiteX10" fmla="*/ 9352 w 2572956"/>
              <a:gd name="connsiteY10" fmla="*/ 312503 h 1874982"/>
              <a:gd name="connsiteX0" fmla="*/ 9533 w 2573137"/>
              <a:gd name="connsiteY0" fmla="*/ 312503 h 1874982"/>
              <a:gd name="connsiteX1" fmla="*/ 322036 w 2573137"/>
              <a:gd name="connsiteY1" fmla="*/ 0 h 1874982"/>
              <a:gd name="connsiteX2" fmla="*/ 2260634 w 2573137"/>
              <a:gd name="connsiteY2" fmla="*/ 0 h 1874982"/>
              <a:gd name="connsiteX3" fmla="*/ 2573137 w 2573137"/>
              <a:gd name="connsiteY3" fmla="*/ 312503 h 1874982"/>
              <a:gd name="connsiteX4" fmla="*/ 2573137 w 2573137"/>
              <a:gd name="connsiteY4" fmla="*/ 1562479 h 1874982"/>
              <a:gd name="connsiteX5" fmla="*/ 2260634 w 2573137"/>
              <a:gd name="connsiteY5" fmla="*/ 1874982 h 1874982"/>
              <a:gd name="connsiteX6" fmla="*/ 322036 w 2573137"/>
              <a:gd name="connsiteY6" fmla="*/ 1874982 h 1874982"/>
              <a:gd name="connsiteX7" fmla="*/ 9533 w 2573137"/>
              <a:gd name="connsiteY7" fmla="*/ 1562479 h 1874982"/>
              <a:gd name="connsiteX8" fmla="*/ 297 w 2573137"/>
              <a:gd name="connsiteY8" fmla="*/ 1366421 h 1874982"/>
              <a:gd name="connsiteX9" fmla="*/ 4687 w 2573137"/>
              <a:gd name="connsiteY9" fmla="*/ 827237 h 1874982"/>
              <a:gd name="connsiteX10" fmla="*/ 9533 w 2573137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4390 w 2572840"/>
              <a:gd name="connsiteY9" fmla="*/ 827237 h 1874982"/>
              <a:gd name="connsiteX10" fmla="*/ 9236 w 2572840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4390 w 2572840"/>
              <a:gd name="connsiteY9" fmla="*/ 827237 h 1874982"/>
              <a:gd name="connsiteX10" fmla="*/ 9236 w 2572840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69538 w 2572840"/>
              <a:gd name="connsiteY4" fmla="*/ 908718 h 1874982"/>
              <a:gd name="connsiteX5" fmla="*/ 2572840 w 2572840"/>
              <a:gd name="connsiteY5" fmla="*/ 1562479 h 1874982"/>
              <a:gd name="connsiteX6" fmla="*/ 2260337 w 2572840"/>
              <a:gd name="connsiteY6" fmla="*/ 1874982 h 1874982"/>
              <a:gd name="connsiteX7" fmla="*/ 321739 w 2572840"/>
              <a:gd name="connsiteY7" fmla="*/ 1874982 h 1874982"/>
              <a:gd name="connsiteX8" fmla="*/ 9236 w 2572840"/>
              <a:gd name="connsiteY8" fmla="*/ 1562479 h 1874982"/>
              <a:gd name="connsiteX9" fmla="*/ 0 w 2572840"/>
              <a:gd name="connsiteY9" fmla="*/ 1366421 h 1874982"/>
              <a:gd name="connsiteX10" fmla="*/ 4390 w 2572840"/>
              <a:gd name="connsiteY10" fmla="*/ 827237 h 1874982"/>
              <a:gd name="connsiteX11" fmla="*/ 9236 w 2572840"/>
              <a:gd name="connsiteY11" fmla="*/ 312503 h 187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2840" h="1874982">
                <a:moveTo>
                  <a:pt x="9236" y="312503"/>
                </a:moveTo>
                <a:cubicBezTo>
                  <a:pt x="9236" y="139912"/>
                  <a:pt x="149148" y="0"/>
                  <a:pt x="321739" y="0"/>
                </a:cubicBezTo>
                <a:lnTo>
                  <a:pt x="2260337" y="0"/>
                </a:lnTo>
                <a:cubicBezTo>
                  <a:pt x="2432928" y="0"/>
                  <a:pt x="2572840" y="139912"/>
                  <a:pt x="2572840" y="312503"/>
                </a:cubicBezTo>
                <a:cubicBezTo>
                  <a:pt x="2571739" y="511241"/>
                  <a:pt x="2570639" y="709980"/>
                  <a:pt x="2569538" y="908718"/>
                </a:cubicBezTo>
                <a:cubicBezTo>
                  <a:pt x="2570639" y="1126638"/>
                  <a:pt x="2571739" y="1344559"/>
                  <a:pt x="2572840" y="1562479"/>
                </a:cubicBezTo>
                <a:cubicBezTo>
                  <a:pt x="2572840" y="1735070"/>
                  <a:pt x="2432928" y="1874982"/>
                  <a:pt x="2260337" y="1874982"/>
                </a:cubicBezTo>
                <a:lnTo>
                  <a:pt x="321739" y="1874982"/>
                </a:lnTo>
                <a:cubicBezTo>
                  <a:pt x="149148" y="1874982"/>
                  <a:pt x="9236" y="1735070"/>
                  <a:pt x="9236" y="1562479"/>
                </a:cubicBezTo>
                <a:cubicBezTo>
                  <a:pt x="6157" y="1497126"/>
                  <a:pt x="3079" y="1461952"/>
                  <a:pt x="0" y="1366421"/>
                </a:cubicBezTo>
                <a:cubicBezTo>
                  <a:pt x="2210" y="1237845"/>
                  <a:pt x="-167" y="996854"/>
                  <a:pt x="4390" y="827237"/>
                </a:cubicBezTo>
                <a:cubicBezTo>
                  <a:pt x="5929" y="503710"/>
                  <a:pt x="4630" y="459430"/>
                  <a:pt x="9236" y="312503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MATLAB Optimizer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2FEE10-892E-477D-93B4-95DC4EF98FCA}"/>
              </a:ext>
            </a:extLst>
          </p:cNvPr>
          <p:cNvSpPr/>
          <p:nvPr/>
        </p:nvSpPr>
        <p:spPr>
          <a:xfrm>
            <a:off x="9275530" y="2638973"/>
            <a:ext cx="2347537" cy="148435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Location and weight of ballast to achieve desired CG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9E79CAB-7F81-469D-9FA1-E6E16D5FC9C4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3431055" y="1789507"/>
            <a:ext cx="1537939" cy="1014505"/>
          </a:xfrm>
          <a:prstGeom prst="bentConnector3">
            <a:avLst>
              <a:gd name="adj1" fmla="val 62348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A81765A-1C9C-4378-B886-BA1E2D1380EE}"/>
              </a:ext>
            </a:extLst>
          </p:cNvPr>
          <p:cNvCxnSpPr>
            <a:cxnSpLocks/>
            <a:stCxn id="9" idx="3"/>
            <a:endCxn id="11" idx="8"/>
          </p:cNvCxnSpPr>
          <p:nvPr/>
        </p:nvCxnSpPr>
        <p:spPr>
          <a:xfrm flipV="1">
            <a:off x="3431055" y="4053988"/>
            <a:ext cx="1537939" cy="1629946"/>
          </a:xfrm>
          <a:prstGeom prst="bentConnector3">
            <a:avLst>
              <a:gd name="adj1" fmla="val 61747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E0705FC9-408E-4EBF-AAFA-0565A12B2F44}"/>
              </a:ext>
            </a:extLst>
          </p:cNvPr>
          <p:cNvCxnSpPr>
            <a:cxnSpLocks/>
            <a:stCxn id="8" idx="3"/>
            <a:endCxn id="11" idx="10"/>
          </p:cNvCxnSpPr>
          <p:nvPr/>
        </p:nvCxnSpPr>
        <p:spPr>
          <a:xfrm flipV="1">
            <a:off x="3428088" y="3318746"/>
            <a:ext cx="1536060" cy="416262"/>
          </a:xfrm>
          <a:prstGeom prst="bentConnector5">
            <a:avLst>
              <a:gd name="adj1" fmla="val 134"/>
              <a:gd name="adj2" fmla="val 39335"/>
              <a:gd name="adj3" fmla="val 62413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9E1EB7C-0A3C-48FE-A290-A7857EEF8503}"/>
              </a:ext>
            </a:extLst>
          </p:cNvPr>
          <p:cNvCxnSpPr>
            <a:cxnSpLocks/>
            <a:stCxn id="11" idx="4"/>
            <a:endCxn id="12" idx="1"/>
          </p:cNvCxnSpPr>
          <p:nvPr/>
        </p:nvCxnSpPr>
        <p:spPr>
          <a:xfrm flipV="1">
            <a:off x="7529296" y="3381148"/>
            <a:ext cx="1746234" cy="1907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84F834-A4EF-47A8-B538-9D23B99E25BF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677024-056F-4AC5-AD54-BE273F493C15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19742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9AF66-0619-435A-8CF0-F305B3EF7F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B1A1A9-6C7C-416B-987D-49E248431F8F}"/>
              </a:ext>
            </a:extLst>
          </p:cNvPr>
          <p:cNvSpPr/>
          <p:nvPr/>
        </p:nvSpPr>
        <p:spPr>
          <a:xfrm>
            <a:off x="245230" y="4611607"/>
            <a:ext cx="5107058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2A237-6F39-489D-BA99-BDEBAAF6133F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240933-81C5-449F-86B2-37079E6CC328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69BF9416-5BE5-4A95-B594-58C482539EFA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7234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DD855-8480-4732-B62A-839C6EB310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3EB935-DFC7-4879-80B5-211D5669257F}"/>
              </a:ext>
            </a:extLst>
          </p:cNvPr>
          <p:cNvSpPr txBox="1"/>
          <p:nvPr/>
        </p:nvSpPr>
        <p:spPr>
          <a:xfrm>
            <a:off x="5454340" y="3299301"/>
            <a:ext cx="2146610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Input weight constraints, current and desired CG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ED5186-CB58-4D21-AA87-ACC15E0CB3D0}"/>
              </a:ext>
            </a:extLst>
          </p:cNvPr>
          <p:cNvSpPr/>
          <p:nvPr/>
        </p:nvSpPr>
        <p:spPr>
          <a:xfrm>
            <a:off x="245229" y="313475"/>
            <a:ext cx="4821521" cy="18201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45BDD5-03A7-4AAC-A8F9-8C8CB6D93FA7}"/>
              </a:ext>
            </a:extLst>
          </p:cNvPr>
          <p:cNvSpPr/>
          <p:nvPr/>
        </p:nvSpPr>
        <p:spPr>
          <a:xfrm>
            <a:off x="245230" y="4611607"/>
            <a:ext cx="5107058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29D4D9-ED36-4F7B-A35A-B6EACEA16B30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AF3CDFD-EBB7-4200-823F-C17FF5C6CE5C}"/>
              </a:ext>
            </a:extLst>
          </p:cNvPr>
          <p:cNvSpPr/>
          <p:nvPr/>
        </p:nvSpPr>
        <p:spPr>
          <a:xfrm rot="13166597">
            <a:off x="4926365" y="2562076"/>
            <a:ext cx="1625755" cy="253706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118F3EE-AD9C-4699-B537-05D74A2BBC38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6583F9-574E-429E-AC5E-4E2DC37AA14C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926017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481DB43-0221-4C7F-B5AE-2307ACD5AF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24AA14-9E82-4E8E-8C29-7B59B19877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78A94C-61B4-462E-A3BF-96D18FC5DD1F}"/>
              </a:ext>
            </a:extLst>
          </p:cNvPr>
          <p:cNvSpPr txBox="1"/>
          <p:nvPr/>
        </p:nvSpPr>
        <p:spPr>
          <a:xfrm>
            <a:off x="5454340" y="3299301"/>
            <a:ext cx="2146610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Input current inertia tensor and the limits for the output tensor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99D1A7D-B7C2-4050-AFB4-0D54E676A35E}"/>
              </a:ext>
            </a:extLst>
          </p:cNvPr>
          <p:cNvSpPr/>
          <p:nvPr/>
        </p:nvSpPr>
        <p:spPr>
          <a:xfrm rot="12273033">
            <a:off x="5471523" y="2873233"/>
            <a:ext cx="839975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D4F139-F776-45A8-99B3-031837EEA562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886271-81EB-47D0-B3BE-90C62E21B72E}"/>
              </a:ext>
            </a:extLst>
          </p:cNvPr>
          <p:cNvSpPr/>
          <p:nvPr/>
        </p:nvSpPr>
        <p:spPr>
          <a:xfrm>
            <a:off x="249004" y="4590095"/>
            <a:ext cx="5107058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ED5186-CB58-4D21-AA87-ACC15E0CB3D0}"/>
              </a:ext>
            </a:extLst>
          </p:cNvPr>
          <p:cNvSpPr/>
          <p:nvPr/>
        </p:nvSpPr>
        <p:spPr>
          <a:xfrm>
            <a:off x="249004" y="2152649"/>
            <a:ext cx="5104045" cy="24860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4896AD1-37DA-4232-A139-B952DF19266E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4FBC9145-A708-4280-8D73-D52EFD82D4D1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31607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3788F2F-B4CE-4782-B955-5147EA26B9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CBCAD2-CA23-491C-AEBF-4B958ACE40D8}"/>
              </a:ext>
            </a:extLst>
          </p:cNvPr>
          <p:cNvSpPr/>
          <p:nvPr/>
        </p:nvSpPr>
        <p:spPr>
          <a:xfrm>
            <a:off x="278514" y="4641998"/>
            <a:ext cx="5121362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B0199E-5C77-4957-943E-AB7930A4AAA5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CE06F-0FEB-42CE-8B32-A70CA4670031}"/>
              </a:ext>
            </a:extLst>
          </p:cNvPr>
          <p:cNvSpPr/>
          <p:nvPr/>
        </p:nvSpPr>
        <p:spPr>
          <a:xfrm>
            <a:off x="1756376" y="4601029"/>
            <a:ext cx="3838666" cy="16691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ED5186-CB58-4D21-AA87-ACC15E0CB3D0}"/>
              </a:ext>
            </a:extLst>
          </p:cNvPr>
          <p:cNvSpPr/>
          <p:nvPr/>
        </p:nvSpPr>
        <p:spPr>
          <a:xfrm>
            <a:off x="308640" y="4808138"/>
            <a:ext cx="5286402" cy="16050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0F0C0A-436F-47E9-BFFC-D6C6C963B3BD}"/>
              </a:ext>
            </a:extLst>
          </p:cNvPr>
          <p:cNvSpPr/>
          <p:nvPr/>
        </p:nvSpPr>
        <p:spPr>
          <a:xfrm>
            <a:off x="6019799" y="6210292"/>
            <a:ext cx="790576" cy="2139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75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C662A9-03BE-4528-93FA-3C5D9D1821DF}"/>
              </a:ext>
            </a:extLst>
          </p:cNvPr>
          <p:cNvSpPr txBox="1"/>
          <p:nvPr/>
        </p:nvSpPr>
        <p:spPr>
          <a:xfrm>
            <a:off x="5454340" y="3299301"/>
            <a:ext cx="2146610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Load point data via csv file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7FCB2B3-A4FA-407A-B2FA-F0ECD832ECE2}"/>
              </a:ext>
            </a:extLst>
          </p:cNvPr>
          <p:cNvSpPr/>
          <p:nvPr/>
        </p:nvSpPr>
        <p:spPr>
          <a:xfrm rot="6424698">
            <a:off x="5175054" y="4170428"/>
            <a:ext cx="839975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654F729-86DB-44DA-9D9F-28EABDBC2DC8}"/>
              </a:ext>
            </a:extLst>
          </p:cNvPr>
          <p:cNvSpPr/>
          <p:nvPr/>
        </p:nvSpPr>
        <p:spPr>
          <a:xfrm rot="2566185">
            <a:off x="5620525" y="5746753"/>
            <a:ext cx="720341" cy="265316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A10D644-C42D-4BC4-825C-A6A491918A77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3A571A-F8A7-42B4-B59B-4743F6330891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19707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901D2A-0DB3-45C1-9FBB-582B306889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" b="328"/>
          <a:stretch/>
        </p:blipFill>
        <p:spPr>
          <a:xfrm>
            <a:off x="245229" y="313475"/>
            <a:ext cx="11701541" cy="61236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A1527C-7246-421B-85C5-8F93F4178A55}"/>
              </a:ext>
            </a:extLst>
          </p:cNvPr>
          <p:cNvSpPr/>
          <p:nvPr/>
        </p:nvSpPr>
        <p:spPr>
          <a:xfrm>
            <a:off x="278514" y="4641998"/>
            <a:ext cx="5121362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42FA60-A9FB-4780-BC54-3A18E4229AD4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69972E-95DE-444E-9126-BE18917A3766}"/>
              </a:ext>
            </a:extLst>
          </p:cNvPr>
          <p:cNvSpPr txBox="1"/>
          <p:nvPr/>
        </p:nvSpPr>
        <p:spPr>
          <a:xfrm>
            <a:off x="3816040" y="556101"/>
            <a:ext cx="1003610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Output panel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ED5186-CB58-4D21-AA87-ACC15E0CB3D0}"/>
              </a:ext>
            </a:extLst>
          </p:cNvPr>
          <p:cNvSpPr/>
          <p:nvPr/>
        </p:nvSpPr>
        <p:spPr>
          <a:xfrm>
            <a:off x="5513086" y="313475"/>
            <a:ext cx="6433684" cy="61236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EB61387-1CBE-4428-8D93-71666702B782}"/>
              </a:ext>
            </a:extLst>
          </p:cNvPr>
          <p:cNvSpPr/>
          <p:nvPr/>
        </p:nvSpPr>
        <p:spPr>
          <a:xfrm>
            <a:off x="4932860" y="719638"/>
            <a:ext cx="523621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D4601F7-0DAE-41EE-9D28-FE612E66F8D1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A310E23-CCB4-47E6-9CF9-E43B631F61CF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22865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4268-11D7-47CE-9F56-D1B15166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Ballas Optimizer Outputs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8130-A412-4846-9F6D-FFB34C2D0F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8FE2-0A40-446F-AE52-863CF460A28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A9690-05ED-4382-BB46-937CEC7C8C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8D53C7-A05E-434D-B205-EC33F7556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878" y="964084"/>
            <a:ext cx="6060244" cy="5474816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3D85119-6AE4-4711-927D-64F1962B2DFB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C4A1D0AC-9A16-4A8C-AB57-61F36D5E379E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90204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E2A4ED9-564E-4A3B-8EA3-47D36D3A7C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20"/>
          <a:stretch/>
        </p:blipFill>
        <p:spPr>
          <a:xfrm>
            <a:off x="262248" y="313475"/>
            <a:ext cx="11684522" cy="61236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395002-68BF-4E80-B4E3-118A204DE1D6}"/>
              </a:ext>
            </a:extLst>
          </p:cNvPr>
          <p:cNvSpPr/>
          <p:nvPr/>
        </p:nvSpPr>
        <p:spPr>
          <a:xfrm>
            <a:off x="5709250" y="556162"/>
            <a:ext cx="6220502" cy="12250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81A6BF-291E-480F-B445-B0EC98F6A995}"/>
              </a:ext>
            </a:extLst>
          </p:cNvPr>
          <p:cNvSpPr/>
          <p:nvPr/>
        </p:nvSpPr>
        <p:spPr>
          <a:xfrm>
            <a:off x="10197283" y="4954906"/>
            <a:ext cx="1624019" cy="13315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679C8-BEDC-4CC6-804C-ECBC8C4D058A}"/>
              </a:ext>
            </a:extLst>
          </p:cNvPr>
          <p:cNvSpPr txBox="1"/>
          <p:nvPr/>
        </p:nvSpPr>
        <p:spPr>
          <a:xfrm>
            <a:off x="3748838" y="653129"/>
            <a:ext cx="1222685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Output rarely converges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290E81-F74E-4C70-AEF9-BCBE49FFB689}"/>
              </a:ext>
            </a:extLst>
          </p:cNvPr>
          <p:cNvSpPr/>
          <p:nvPr/>
        </p:nvSpPr>
        <p:spPr>
          <a:xfrm>
            <a:off x="5078576" y="782000"/>
            <a:ext cx="523621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E83F5-B13D-4D3A-A2A9-7B56AA8D8BE6}"/>
              </a:ext>
            </a:extLst>
          </p:cNvPr>
          <p:cNvSpPr txBox="1"/>
          <p:nvPr/>
        </p:nvSpPr>
        <p:spPr>
          <a:xfrm>
            <a:off x="9393575" y="3517133"/>
            <a:ext cx="2014835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Ballast output ranged from 1e-20lbs to 30lbs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5DCEBEE-8EAC-49EF-BBC9-1057D1320DC5}"/>
              </a:ext>
            </a:extLst>
          </p:cNvPr>
          <p:cNvSpPr/>
          <p:nvPr/>
        </p:nvSpPr>
        <p:spPr>
          <a:xfrm rot="3944598">
            <a:off x="10282766" y="4353351"/>
            <a:ext cx="879687" cy="298770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2FE3E5-6F2F-43C5-9B8F-A0980538C2A0}"/>
              </a:ext>
            </a:extLst>
          </p:cNvPr>
          <p:cNvSpPr/>
          <p:nvPr/>
        </p:nvSpPr>
        <p:spPr>
          <a:xfrm>
            <a:off x="278514" y="4641998"/>
            <a:ext cx="5121362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74EEE5-67CE-401F-A921-34194837498D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15D2B75-79AE-48C7-9061-4629543971C9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6BC14DAE-B7EC-4253-8BD7-07751DB2F1DE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21050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F433-DF91-4C3E-BF78-98F32C5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Optimizers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3D5E-952F-40ED-AB8C-81F10EF5C6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48615-29E4-44F2-BCF2-192B94F6E5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D445-71FE-4862-AD88-67A75132FE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BB59E-2233-47BE-A816-2A65556C3D74}"/>
              </a:ext>
            </a:extLst>
          </p:cNvPr>
          <p:cNvSpPr txBox="1"/>
          <p:nvPr/>
        </p:nvSpPr>
        <p:spPr>
          <a:xfrm>
            <a:off x="656493" y="1079851"/>
            <a:ext cx="6073491" cy="31700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Gradient Descent:</a:t>
            </a: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Setup equation to be minimized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Take gradient at initial guess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Components tell us direction of maximum </a:t>
            </a:r>
            <a:r>
              <a:rPr lang="en-US" sz="2000" u="sng" dirty="0">
                <a:solidFill>
                  <a:schemeClr val="accent1">
                    <a:lumMod val="75000"/>
                  </a:schemeClr>
                </a:solidFill>
              </a:rPr>
              <a:t>positive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change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Take small step in the opposite direction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Function value after this small step is now the initial guess and steps 2-3 are repeated until step delta is sufficiently small.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EF53A0B-5042-4BFD-A977-AD0F5464DC8D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829FFD7-5924-4571-956E-22EAB793ACE1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pic>
        <p:nvPicPr>
          <p:cNvPr id="1028" name="Picture 4" descr="x^2+y^2 – GeoGebra">
            <a:extLst>
              <a:ext uri="{FF2B5EF4-FFF2-40B4-BE49-F238E27FC236}">
                <a16:creationId xmlns:a16="http://schemas.microsoft.com/office/drawing/2014/main" id="{B91A90B7-54AE-4609-A33F-696032558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99" t="52" r="17551" b="18287"/>
          <a:stretch/>
        </p:blipFill>
        <p:spPr bwMode="auto">
          <a:xfrm>
            <a:off x="6727690" y="800100"/>
            <a:ext cx="5370576" cy="492099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62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157A-2101-4900-91D7-24219277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6542"/>
            <a:ext cx="11277600" cy="762000"/>
          </a:xfrm>
        </p:spPr>
        <p:txBody>
          <a:bodyPr/>
          <a:lstStyle/>
          <a:p>
            <a:r>
              <a:rPr lang="en-US" dirty="0"/>
              <a:t>Review: Optimizer Sensitivity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1EB7-9DCB-4623-BBBA-F08C9506D8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6EBED-68ED-40E4-BA67-444A17AB97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116AD-2976-46B0-8CE2-B08527EE9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5852E92-9B28-4F67-8126-36F4B3E6EFA8}"/>
              </a:ext>
            </a:extLst>
          </p:cNvPr>
          <p:cNvSpPr txBox="1">
            <a:spLocks/>
          </p:cNvSpPr>
          <p:nvPr/>
        </p:nvSpPr>
        <p:spPr>
          <a:xfrm>
            <a:off x="-1" y="-23186"/>
            <a:ext cx="13189527" cy="279218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F2DEE1C2-7EB7-4E04-8C86-F51CBFC2A0A5}"/>
              </a:ext>
            </a:extLst>
          </p:cNvPr>
          <p:cNvSpPr txBox="1">
            <a:spLocks/>
          </p:cNvSpPr>
          <p:nvPr/>
        </p:nvSpPr>
        <p:spPr>
          <a:xfrm>
            <a:off x="4037845" y="6480636"/>
            <a:ext cx="4453097" cy="376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805A41-5C3C-430B-9BB8-35FB946B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6029"/>
            <a:ext cx="11013046" cy="51363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1A8D37-BA51-4917-A0C9-0677946369B6}"/>
              </a:ext>
            </a:extLst>
          </p:cNvPr>
          <p:cNvSpPr txBox="1"/>
          <p:nvPr/>
        </p:nvSpPr>
        <p:spPr>
          <a:xfrm>
            <a:off x="8881649" y="1247914"/>
            <a:ext cx="2310321" cy="307777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guess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77CB0D-430B-41A7-BDB4-8973DDF9FDE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016263" y="1401803"/>
            <a:ext cx="1865386" cy="156999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FF4F52-C27B-46A6-961D-8316C6A0FECB}"/>
              </a:ext>
            </a:extLst>
          </p:cNvPr>
          <p:cNvCxnSpPr>
            <a:cxnSpLocks/>
          </p:cNvCxnSpPr>
          <p:nvPr/>
        </p:nvCxnSpPr>
        <p:spPr>
          <a:xfrm>
            <a:off x="7016263" y="2971800"/>
            <a:ext cx="342899" cy="4572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61B3CE-091C-4D8C-9EE1-1AD2C8337672}"/>
              </a:ext>
            </a:extLst>
          </p:cNvPr>
          <p:cNvSpPr txBox="1"/>
          <p:nvPr/>
        </p:nvSpPr>
        <p:spPr>
          <a:xfrm>
            <a:off x="2211218" y="2292348"/>
            <a:ext cx="2310321" cy="30777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guess 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58158E-670B-4CDD-A6C9-C7AA2A3B2CB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21539" y="2446237"/>
            <a:ext cx="2073223" cy="67945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A3AEB6-67C4-4B29-8EE2-1A6CC5956064}"/>
              </a:ext>
            </a:extLst>
          </p:cNvPr>
          <p:cNvCxnSpPr>
            <a:cxnSpLocks/>
          </p:cNvCxnSpPr>
          <p:nvPr/>
        </p:nvCxnSpPr>
        <p:spPr>
          <a:xfrm flipH="1">
            <a:off x="6392008" y="3125689"/>
            <a:ext cx="202755" cy="6066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D9D6188-5B8C-4FEB-8D14-28FC2B1CAB04}"/>
              </a:ext>
            </a:extLst>
          </p:cNvPr>
          <p:cNvSpPr/>
          <p:nvPr/>
        </p:nvSpPr>
        <p:spPr>
          <a:xfrm>
            <a:off x="7594362" y="3566061"/>
            <a:ext cx="71558" cy="7378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39B8FF1-94EC-46A3-93D2-5AEAF7A80379}"/>
              </a:ext>
            </a:extLst>
          </p:cNvPr>
          <p:cNvSpPr/>
          <p:nvPr/>
        </p:nvSpPr>
        <p:spPr>
          <a:xfrm>
            <a:off x="6096000" y="6098601"/>
            <a:ext cx="71558" cy="737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5617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9228-5074-459D-A75A-979C325DED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F515B-16A9-42E1-9252-3C82AEBE41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AD0EC-D1EC-4512-9DA0-3A4F6D7E90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2" descr="displacement - How to make a specific wavy plane - Blender Stack Exchange">
            <a:extLst>
              <a:ext uri="{FF2B5EF4-FFF2-40B4-BE49-F238E27FC236}">
                <a16:creationId xmlns:a16="http://schemas.microsoft.com/office/drawing/2014/main" id="{1200B028-B9E2-45C0-8ACC-87167702F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734" y="1442400"/>
            <a:ext cx="7259066" cy="499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A7B4D9-F22D-4982-A99E-7BDE9104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</p:spPr>
        <p:txBody>
          <a:bodyPr/>
          <a:lstStyle/>
          <a:p>
            <a:r>
              <a:rPr lang="en-US" dirty="0"/>
              <a:t>Review: Optimizer Sensitivity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7ACB17D2-CD34-4872-A7E4-19499A153D31}"/>
              </a:ext>
            </a:extLst>
          </p:cNvPr>
          <p:cNvSpPr txBox="1">
            <a:spLocks/>
          </p:cNvSpPr>
          <p:nvPr/>
        </p:nvSpPr>
        <p:spPr>
          <a:xfrm>
            <a:off x="-1" y="-23186"/>
            <a:ext cx="13189527" cy="279218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FDB5D49-BCDD-4AAF-B15C-5936582BC3E0}"/>
              </a:ext>
            </a:extLst>
          </p:cNvPr>
          <p:cNvSpPr txBox="1">
            <a:spLocks/>
          </p:cNvSpPr>
          <p:nvPr/>
        </p:nvSpPr>
        <p:spPr>
          <a:xfrm>
            <a:off x="4037845" y="6480636"/>
            <a:ext cx="4453097" cy="376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12272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E65B-7697-4C55-83B8-9FFB8B2A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side note’s side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942CF-B3F5-4F80-924E-E3A7E2DDA8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EB2F0-6D19-4EBB-B583-A4CCFCAFCB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5AAA-F45F-467A-AF28-4F3C6FF48A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098" name="Picture 2" descr="Four-dimensional space - Wikipedia">
            <a:extLst>
              <a:ext uri="{FF2B5EF4-FFF2-40B4-BE49-F238E27FC236}">
                <a16:creationId xmlns:a16="http://schemas.microsoft.com/office/drawing/2014/main" id="{867B5A98-9CB3-4AB9-BAFF-D578FDC00C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766" y="1591488"/>
            <a:ext cx="4485133" cy="448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ultivariable Calculus | Mathematics | MIT OpenCourseWare">
            <a:extLst>
              <a:ext uri="{FF2B5EF4-FFF2-40B4-BE49-F238E27FC236}">
                <a16:creationId xmlns:a16="http://schemas.microsoft.com/office/drawing/2014/main" id="{1E3C5646-849C-4EFF-A0E8-ACC8E0AB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9" y="1599376"/>
            <a:ext cx="5353028" cy="448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A987D239-F1FE-4D3D-9D69-70A6AE5A5B80}"/>
              </a:ext>
            </a:extLst>
          </p:cNvPr>
          <p:cNvSpPr/>
          <p:nvPr/>
        </p:nvSpPr>
        <p:spPr>
          <a:xfrm>
            <a:off x="5722936" y="3652924"/>
            <a:ext cx="1524000" cy="487680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FDC418D-FC2D-4853-B07F-415AE3DAFB3D}"/>
              </a:ext>
            </a:extLst>
          </p:cNvPr>
          <p:cNvSpPr txBox="1">
            <a:spLocks/>
          </p:cNvSpPr>
          <p:nvPr/>
        </p:nvSpPr>
        <p:spPr>
          <a:xfrm>
            <a:off x="-1" y="-23186"/>
            <a:ext cx="13189527" cy="279218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92DC2E2-D944-4DE1-B254-60457579A855}"/>
              </a:ext>
            </a:extLst>
          </p:cNvPr>
          <p:cNvSpPr txBox="1">
            <a:spLocks/>
          </p:cNvSpPr>
          <p:nvPr/>
        </p:nvSpPr>
        <p:spPr>
          <a:xfrm>
            <a:off x="4037845" y="6480636"/>
            <a:ext cx="4453097" cy="376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05628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A009-3825-4310-BBC3-BF1DEE6E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Ballast Optimizer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F63A-E461-47AE-A911-0CCE39563C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7597-3389-43F5-A5E1-952723A56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E773-A386-486E-99DE-F6E1DA9C06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F57624-90BB-423A-A58A-745D03DB5888}"/>
              </a:ext>
            </a:extLst>
          </p:cNvPr>
          <p:cNvSpPr/>
          <p:nvPr/>
        </p:nvSpPr>
        <p:spPr>
          <a:xfrm>
            <a:off x="867451" y="1184525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Unballasted CG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A28FD6-AD8A-4416-8277-87D540A88725}"/>
              </a:ext>
            </a:extLst>
          </p:cNvPr>
          <p:cNvSpPr/>
          <p:nvPr/>
        </p:nvSpPr>
        <p:spPr>
          <a:xfrm>
            <a:off x="864484" y="3130026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Desired CG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4DEFE7-2FE2-471C-A576-8F200276509B}"/>
              </a:ext>
            </a:extLst>
          </p:cNvPr>
          <p:cNvSpPr/>
          <p:nvPr/>
        </p:nvSpPr>
        <p:spPr>
          <a:xfrm>
            <a:off x="867451" y="5078952"/>
            <a:ext cx="2563604" cy="120996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Locations and limits for ballast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578A31-860E-47D4-9DCC-198F12BA5DF9}"/>
              </a:ext>
            </a:extLst>
          </p:cNvPr>
          <p:cNvSpPr/>
          <p:nvPr/>
        </p:nvSpPr>
        <p:spPr>
          <a:xfrm>
            <a:off x="4959758" y="2491509"/>
            <a:ext cx="2572840" cy="1874982"/>
          </a:xfrm>
          <a:custGeom>
            <a:avLst/>
            <a:gdLst>
              <a:gd name="connsiteX0" fmla="*/ 0 w 2563604"/>
              <a:gd name="connsiteY0" fmla="*/ 312503 h 1874982"/>
              <a:gd name="connsiteX1" fmla="*/ 312503 w 2563604"/>
              <a:gd name="connsiteY1" fmla="*/ 0 h 1874982"/>
              <a:gd name="connsiteX2" fmla="*/ 2251101 w 2563604"/>
              <a:gd name="connsiteY2" fmla="*/ 0 h 1874982"/>
              <a:gd name="connsiteX3" fmla="*/ 2563604 w 2563604"/>
              <a:gd name="connsiteY3" fmla="*/ 312503 h 1874982"/>
              <a:gd name="connsiteX4" fmla="*/ 2563604 w 2563604"/>
              <a:gd name="connsiteY4" fmla="*/ 1562479 h 1874982"/>
              <a:gd name="connsiteX5" fmla="*/ 2251101 w 2563604"/>
              <a:gd name="connsiteY5" fmla="*/ 1874982 h 1874982"/>
              <a:gd name="connsiteX6" fmla="*/ 312503 w 2563604"/>
              <a:gd name="connsiteY6" fmla="*/ 1874982 h 1874982"/>
              <a:gd name="connsiteX7" fmla="*/ 0 w 2563604"/>
              <a:gd name="connsiteY7" fmla="*/ 1562479 h 1874982"/>
              <a:gd name="connsiteX8" fmla="*/ 0 w 2563604"/>
              <a:gd name="connsiteY8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9236 w 2572840"/>
              <a:gd name="connsiteY9" fmla="*/ 312503 h 1874982"/>
              <a:gd name="connsiteX0" fmla="*/ 24461 w 2588065"/>
              <a:gd name="connsiteY0" fmla="*/ 312503 h 1874982"/>
              <a:gd name="connsiteX1" fmla="*/ 336964 w 2588065"/>
              <a:gd name="connsiteY1" fmla="*/ 0 h 1874982"/>
              <a:gd name="connsiteX2" fmla="*/ 2275562 w 2588065"/>
              <a:gd name="connsiteY2" fmla="*/ 0 h 1874982"/>
              <a:gd name="connsiteX3" fmla="*/ 2588065 w 2588065"/>
              <a:gd name="connsiteY3" fmla="*/ 312503 h 1874982"/>
              <a:gd name="connsiteX4" fmla="*/ 2588065 w 2588065"/>
              <a:gd name="connsiteY4" fmla="*/ 1562479 h 1874982"/>
              <a:gd name="connsiteX5" fmla="*/ 2275562 w 2588065"/>
              <a:gd name="connsiteY5" fmla="*/ 1874982 h 1874982"/>
              <a:gd name="connsiteX6" fmla="*/ 336964 w 2588065"/>
              <a:gd name="connsiteY6" fmla="*/ 1874982 h 1874982"/>
              <a:gd name="connsiteX7" fmla="*/ 24461 w 2588065"/>
              <a:gd name="connsiteY7" fmla="*/ 1562479 h 1874982"/>
              <a:gd name="connsiteX8" fmla="*/ 15225 w 2588065"/>
              <a:gd name="connsiteY8" fmla="*/ 1366421 h 1874982"/>
              <a:gd name="connsiteX9" fmla="*/ 19615 w 2588065"/>
              <a:gd name="connsiteY9" fmla="*/ 827237 h 1874982"/>
              <a:gd name="connsiteX10" fmla="*/ 24461 w 2588065"/>
              <a:gd name="connsiteY10" fmla="*/ 312503 h 1874982"/>
              <a:gd name="connsiteX0" fmla="*/ 24461 w 2588065"/>
              <a:gd name="connsiteY0" fmla="*/ 312503 h 1874982"/>
              <a:gd name="connsiteX1" fmla="*/ 336964 w 2588065"/>
              <a:gd name="connsiteY1" fmla="*/ 0 h 1874982"/>
              <a:gd name="connsiteX2" fmla="*/ 2275562 w 2588065"/>
              <a:gd name="connsiteY2" fmla="*/ 0 h 1874982"/>
              <a:gd name="connsiteX3" fmla="*/ 2588065 w 2588065"/>
              <a:gd name="connsiteY3" fmla="*/ 312503 h 1874982"/>
              <a:gd name="connsiteX4" fmla="*/ 2588065 w 2588065"/>
              <a:gd name="connsiteY4" fmla="*/ 1562479 h 1874982"/>
              <a:gd name="connsiteX5" fmla="*/ 2275562 w 2588065"/>
              <a:gd name="connsiteY5" fmla="*/ 1874982 h 1874982"/>
              <a:gd name="connsiteX6" fmla="*/ 336964 w 2588065"/>
              <a:gd name="connsiteY6" fmla="*/ 1874982 h 1874982"/>
              <a:gd name="connsiteX7" fmla="*/ 24461 w 2588065"/>
              <a:gd name="connsiteY7" fmla="*/ 1562479 h 1874982"/>
              <a:gd name="connsiteX8" fmla="*/ 15225 w 2588065"/>
              <a:gd name="connsiteY8" fmla="*/ 1366421 h 1874982"/>
              <a:gd name="connsiteX9" fmla="*/ 19615 w 2588065"/>
              <a:gd name="connsiteY9" fmla="*/ 827237 h 1874982"/>
              <a:gd name="connsiteX10" fmla="*/ 24461 w 2588065"/>
              <a:gd name="connsiteY10" fmla="*/ 312503 h 1874982"/>
              <a:gd name="connsiteX0" fmla="*/ 9352 w 2572956"/>
              <a:gd name="connsiteY0" fmla="*/ 312503 h 1874982"/>
              <a:gd name="connsiteX1" fmla="*/ 321855 w 2572956"/>
              <a:gd name="connsiteY1" fmla="*/ 0 h 1874982"/>
              <a:gd name="connsiteX2" fmla="*/ 2260453 w 2572956"/>
              <a:gd name="connsiteY2" fmla="*/ 0 h 1874982"/>
              <a:gd name="connsiteX3" fmla="*/ 2572956 w 2572956"/>
              <a:gd name="connsiteY3" fmla="*/ 312503 h 1874982"/>
              <a:gd name="connsiteX4" fmla="*/ 2572956 w 2572956"/>
              <a:gd name="connsiteY4" fmla="*/ 1562479 h 1874982"/>
              <a:gd name="connsiteX5" fmla="*/ 2260453 w 2572956"/>
              <a:gd name="connsiteY5" fmla="*/ 1874982 h 1874982"/>
              <a:gd name="connsiteX6" fmla="*/ 321855 w 2572956"/>
              <a:gd name="connsiteY6" fmla="*/ 1874982 h 1874982"/>
              <a:gd name="connsiteX7" fmla="*/ 9352 w 2572956"/>
              <a:gd name="connsiteY7" fmla="*/ 1562479 h 1874982"/>
              <a:gd name="connsiteX8" fmla="*/ 116 w 2572956"/>
              <a:gd name="connsiteY8" fmla="*/ 1366421 h 1874982"/>
              <a:gd name="connsiteX9" fmla="*/ 4506 w 2572956"/>
              <a:gd name="connsiteY9" fmla="*/ 827237 h 1874982"/>
              <a:gd name="connsiteX10" fmla="*/ 9352 w 2572956"/>
              <a:gd name="connsiteY10" fmla="*/ 312503 h 1874982"/>
              <a:gd name="connsiteX0" fmla="*/ 9533 w 2573137"/>
              <a:gd name="connsiteY0" fmla="*/ 312503 h 1874982"/>
              <a:gd name="connsiteX1" fmla="*/ 322036 w 2573137"/>
              <a:gd name="connsiteY1" fmla="*/ 0 h 1874982"/>
              <a:gd name="connsiteX2" fmla="*/ 2260634 w 2573137"/>
              <a:gd name="connsiteY2" fmla="*/ 0 h 1874982"/>
              <a:gd name="connsiteX3" fmla="*/ 2573137 w 2573137"/>
              <a:gd name="connsiteY3" fmla="*/ 312503 h 1874982"/>
              <a:gd name="connsiteX4" fmla="*/ 2573137 w 2573137"/>
              <a:gd name="connsiteY4" fmla="*/ 1562479 h 1874982"/>
              <a:gd name="connsiteX5" fmla="*/ 2260634 w 2573137"/>
              <a:gd name="connsiteY5" fmla="*/ 1874982 h 1874982"/>
              <a:gd name="connsiteX6" fmla="*/ 322036 w 2573137"/>
              <a:gd name="connsiteY6" fmla="*/ 1874982 h 1874982"/>
              <a:gd name="connsiteX7" fmla="*/ 9533 w 2573137"/>
              <a:gd name="connsiteY7" fmla="*/ 1562479 h 1874982"/>
              <a:gd name="connsiteX8" fmla="*/ 297 w 2573137"/>
              <a:gd name="connsiteY8" fmla="*/ 1366421 h 1874982"/>
              <a:gd name="connsiteX9" fmla="*/ 4687 w 2573137"/>
              <a:gd name="connsiteY9" fmla="*/ 827237 h 1874982"/>
              <a:gd name="connsiteX10" fmla="*/ 9533 w 2573137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4390 w 2572840"/>
              <a:gd name="connsiteY9" fmla="*/ 827237 h 1874982"/>
              <a:gd name="connsiteX10" fmla="*/ 9236 w 2572840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72840 w 2572840"/>
              <a:gd name="connsiteY4" fmla="*/ 1562479 h 1874982"/>
              <a:gd name="connsiteX5" fmla="*/ 2260337 w 2572840"/>
              <a:gd name="connsiteY5" fmla="*/ 1874982 h 1874982"/>
              <a:gd name="connsiteX6" fmla="*/ 321739 w 2572840"/>
              <a:gd name="connsiteY6" fmla="*/ 1874982 h 1874982"/>
              <a:gd name="connsiteX7" fmla="*/ 9236 w 2572840"/>
              <a:gd name="connsiteY7" fmla="*/ 1562479 h 1874982"/>
              <a:gd name="connsiteX8" fmla="*/ 0 w 2572840"/>
              <a:gd name="connsiteY8" fmla="*/ 1366421 h 1874982"/>
              <a:gd name="connsiteX9" fmla="*/ 4390 w 2572840"/>
              <a:gd name="connsiteY9" fmla="*/ 827237 h 1874982"/>
              <a:gd name="connsiteX10" fmla="*/ 9236 w 2572840"/>
              <a:gd name="connsiteY10" fmla="*/ 312503 h 1874982"/>
              <a:gd name="connsiteX0" fmla="*/ 9236 w 2572840"/>
              <a:gd name="connsiteY0" fmla="*/ 312503 h 1874982"/>
              <a:gd name="connsiteX1" fmla="*/ 321739 w 2572840"/>
              <a:gd name="connsiteY1" fmla="*/ 0 h 1874982"/>
              <a:gd name="connsiteX2" fmla="*/ 2260337 w 2572840"/>
              <a:gd name="connsiteY2" fmla="*/ 0 h 1874982"/>
              <a:gd name="connsiteX3" fmla="*/ 2572840 w 2572840"/>
              <a:gd name="connsiteY3" fmla="*/ 312503 h 1874982"/>
              <a:gd name="connsiteX4" fmla="*/ 2569538 w 2572840"/>
              <a:gd name="connsiteY4" fmla="*/ 908718 h 1874982"/>
              <a:gd name="connsiteX5" fmla="*/ 2572840 w 2572840"/>
              <a:gd name="connsiteY5" fmla="*/ 1562479 h 1874982"/>
              <a:gd name="connsiteX6" fmla="*/ 2260337 w 2572840"/>
              <a:gd name="connsiteY6" fmla="*/ 1874982 h 1874982"/>
              <a:gd name="connsiteX7" fmla="*/ 321739 w 2572840"/>
              <a:gd name="connsiteY7" fmla="*/ 1874982 h 1874982"/>
              <a:gd name="connsiteX8" fmla="*/ 9236 w 2572840"/>
              <a:gd name="connsiteY8" fmla="*/ 1562479 h 1874982"/>
              <a:gd name="connsiteX9" fmla="*/ 0 w 2572840"/>
              <a:gd name="connsiteY9" fmla="*/ 1366421 h 1874982"/>
              <a:gd name="connsiteX10" fmla="*/ 4390 w 2572840"/>
              <a:gd name="connsiteY10" fmla="*/ 827237 h 1874982"/>
              <a:gd name="connsiteX11" fmla="*/ 9236 w 2572840"/>
              <a:gd name="connsiteY11" fmla="*/ 312503 h 187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2840" h="1874982">
                <a:moveTo>
                  <a:pt x="9236" y="312503"/>
                </a:moveTo>
                <a:cubicBezTo>
                  <a:pt x="9236" y="139912"/>
                  <a:pt x="149148" y="0"/>
                  <a:pt x="321739" y="0"/>
                </a:cubicBezTo>
                <a:lnTo>
                  <a:pt x="2260337" y="0"/>
                </a:lnTo>
                <a:cubicBezTo>
                  <a:pt x="2432928" y="0"/>
                  <a:pt x="2572840" y="139912"/>
                  <a:pt x="2572840" y="312503"/>
                </a:cubicBezTo>
                <a:cubicBezTo>
                  <a:pt x="2571739" y="511241"/>
                  <a:pt x="2570639" y="709980"/>
                  <a:pt x="2569538" y="908718"/>
                </a:cubicBezTo>
                <a:cubicBezTo>
                  <a:pt x="2570639" y="1126638"/>
                  <a:pt x="2571739" y="1344559"/>
                  <a:pt x="2572840" y="1562479"/>
                </a:cubicBezTo>
                <a:cubicBezTo>
                  <a:pt x="2572840" y="1735070"/>
                  <a:pt x="2432928" y="1874982"/>
                  <a:pt x="2260337" y="1874982"/>
                </a:cubicBezTo>
                <a:lnTo>
                  <a:pt x="321739" y="1874982"/>
                </a:lnTo>
                <a:cubicBezTo>
                  <a:pt x="149148" y="1874982"/>
                  <a:pt x="9236" y="1735070"/>
                  <a:pt x="9236" y="1562479"/>
                </a:cubicBezTo>
                <a:cubicBezTo>
                  <a:pt x="6157" y="1497126"/>
                  <a:pt x="3079" y="1461952"/>
                  <a:pt x="0" y="1366421"/>
                </a:cubicBezTo>
                <a:cubicBezTo>
                  <a:pt x="2210" y="1237845"/>
                  <a:pt x="-167" y="996854"/>
                  <a:pt x="4390" y="827237"/>
                </a:cubicBezTo>
                <a:cubicBezTo>
                  <a:pt x="5929" y="503710"/>
                  <a:pt x="4630" y="459430"/>
                  <a:pt x="9236" y="312503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MATLAB Optimizer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2FEE10-892E-477D-93B4-95DC4EF98FCA}"/>
              </a:ext>
            </a:extLst>
          </p:cNvPr>
          <p:cNvSpPr/>
          <p:nvPr/>
        </p:nvSpPr>
        <p:spPr>
          <a:xfrm>
            <a:off x="9275530" y="2638973"/>
            <a:ext cx="2347537" cy="148435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Location and weight of ballast to achieve desired CG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9E79CAB-7F81-469D-9FA1-E6E16D5FC9C4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3431055" y="1789507"/>
            <a:ext cx="1537939" cy="1014505"/>
          </a:xfrm>
          <a:prstGeom prst="bentConnector3">
            <a:avLst>
              <a:gd name="adj1" fmla="val 62348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A81765A-1C9C-4378-B886-BA1E2D1380EE}"/>
              </a:ext>
            </a:extLst>
          </p:cNvPr>
          <p:cNvCxnSpPr>
            <a:cxnSpLocks/>
            <a:stCxn id="9" idx="3"/>
            <a:endCxn id="11" idx="8"/>
          </p:cNvCxnSpPr>
          <p:nvPr/>
        </p:nvCxnSpPr>
        <p:spPr>
          <a:xfrm flipV="1">
            <a:off x="3431055" y="4053988"/>
            <a:ext cx="1537939" cy="1629946"/>
          </a:xfrm>
          <a:prstGeom prst="bentConnector3">
            <a:avLst>
              <a:gd name="adj1" fmla="val 61747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E0705FC9-408E-4EBF-AAFA-0565A12B2F44}"/>
              </a:ext>
            </a:extLst>
          </p:cNvPr>
          <p:cNvCxnSpPr>
            <a:cxnSpLocks/>
            <a:stCxn id="8" idx="3"/>
            <a:endCxn id="11" idx="10"/>
          </p:cNvCxnSpPr>
          <p:nvPr/>
        </p:nvCxnSpPr>
        <p:spPr>
          <a:xfrm flipV="1">
            <a:off x="3428088" y="3318746"/>
            <a:ext cx="1536060" cy="416262"/>
          </a:xfrm>
          <a:prstGeom prst="bentConnector5">
            <a:avLst>
              <a:gd name="adj1" fmla="val 134"/>
              <a:gd name="adj2" fmla="val 39335"/>
              <a:gd name="adj3" fmla="val 62413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9E1EB7C-0A3C-48FE-A290-A7857EEF8503}"/>
              </a:ext>
            </a:extLst>
          </p:cNvPr>
          <p:cNvCxnSpPr>
            <a:cxnSpLocks/>
            <a:stCxn id="11" idx="4"/>
            <a:endCxn id="12" idx="1"/>
          </p:cNvCxnSpPr>
          <p:nvPr/>
        </p:nvCxnSpPr>
        <p:spPr>
          <a:xfrm flipV="1">
            <a:off x="7529296" y="3381148"/>
            <a:ext cx="1746234" cy="1907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84F834-A4EF-47A8-B538-9D23B99E25BF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677024-056F-4AC5-AD54-BE273F493C15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935965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562A91-DA93-4DBA-A812-895E694D3CC5}"/>
              </a:ext>
            </a:extLst>
          </p:cNvPr>
          <p:cNvSpPr/>
          <p:nvPr/>
        </p:nvSpPr>
        <p:spPr>
          <a:xfrm>
            <a:off x="452418" y="1181099"/>
            <a:ext cx="11267908" cy="509500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7A009-3825-4310-BBC3-BF1DEE6E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Optimizer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F63A-E461-47AE-A911-0CCE39563C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7597-3389-43F5-A5E1-952723A56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E773-A386-486E-99DE-F6E1DA9C06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84F834-A4EF-47A8-B538-9D23B99E25BF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677024-056F-4AC5-AD54-BE273F493C15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EB30A6C-56AC-4F7F-84A4-BC513950DAAC}"/>
              </a:ext>
            </a:extLst>
          </p:cNvPr>
          <p:cNvCxnSpPr>
            <a:cxnSpLocks/>
          </p:cNvCxnSpPr>
          <p:nvPr/>
        </p:nvCxnSpPr>
        <p:spPr>
          <a:xfrm>
            <a:off x="-748145" y="1731818"/>
            <a:ext cx="1205345" cy="61979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E01EAA1-C557-4B80-80B3-813C9299355E}"/>
              </a:ext>
            </a:extLst>
          </p:cNvPr>
          <p:cNvCxnSpPr>
            <a:cxnSpLocks/>
          </p:cNvCxnSpPr>
          <p:nvPr/>
        </p:nvCxnSpPr>
        <p:spPr>
          <a:xfrm flipV="1">
            <a:off x="-1080739" y="4833789"/>
            <a:ext cx="1537939" cy="739530"/>
          </a:xfrm>
          <a:prstGeom prst="bentConnector3">
            <a:avLst>
              <a:gd name="adj1" fmla="val 76125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08BC116-C14B-458F-93CC-E71183153B5C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-1052090" y="3728603"/>
            <a:ext cx="1504508" cy="21271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2AADC28-FA5A-469C-ABF1-CDFD4C18ACD0}"/>
              </a:ext>
            </a:extLst>
          </p:cNvPr>
          <p:cNvSpPr/>
          <p:nvPr/>
        </p:nvSpPr>
        <p:spPr>
          <a:xfrm>
            <a:off x="636370" y="4413196"/>
            <a:ext cx="4248938" cy="1136996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Linear Constraints: </a:t>
            </a:r>
          </a:p>
          <a:p>
            <a:pPr algn="ctr"/>
            <a:r>
              <a:rPr lang="en-US" sz="1600" dirty="0"/>
              <a:t>Upper and lower ballast boundaries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FED3B1-6869-4BA4-88F9-B66E56BE56A6}"/>
              </a:ext>
            </a:extLst>
          </p:cNvPr>
          <p:cNvSpPr/>
          <p:nvPr/>
        </p:nvSpPr>
        <p:spPr>
          <a:xfrm>
            <a:off x="636370" y="2860502"/>
            <a:ext cx="4248938" cy="113699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Non-Linear Constraints:</a:t>
            </a:r>
          </a:p>
          <a:p>
            <a:pPr algn="ctr"/>
            <a:r>
              <a:rPr lang="en-US" sz="1600" dirty="0"/>
              <a:t>Work towards the desired CG and stay within inertia tensor limits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DF2899-CB09-4660-8569-073290FEE617}"/>
              </a:ext>
            </a:extLst>
          </p:cNvPr>
          <p:cNvSpPr/>
          <p:nvPr/>
        </p:nvSpPr>
        <p:spPr>
          <a:xfrm>
            <a:off x="636370" y="1731818"/>
            <a:ext cx="4248938" cy="71298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Goal (Objective Function): </a:t>
            </a:r>
          </a:p>
          <a:p>
            <a:pPr algn="ctr"/>
            <a:r>
              <a:rPr lang="en-US" sz="1600" dirty="0"/>
              <a:t>Minimize the amount of weight added</a:t>
            </a:r>
            <a:endParaRPr lang="en-US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53D545-8BF4-4A4F-922D-D8B38D4200B0}"/>
              </a:ext>
            </a:extLst>
          </p:cNvPr>
          <p:cNvSpPr/>
          <p:nvPr/>
        </p:nvSpPr>
        <p:spPr>
          <a:xfrm>
            <a:off x="6264998" y="2464019"/>
            <a:ext cx="3947310" cy="192995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Gradient Descent-Like Algorithm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7A36C87-0F88-4FF8-B517-58C82E30883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885308" y="2088311"/>
            <a:ext cx="673520" cy="1321472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B7659D-C017-413B-B5D5-BF70A536E748}"/>
              </a:ext>
            </a:extLst>
          </p:cNvPr>
          <p:cNvCxnSpPr>
            <a:stCxn id="36" idx="3"/>
          </p:cNvCxnSpPr>
          <p:nvPr/>
        </p:nvCxnSpPr>
        <p:spPr>
          <a:xfrm>
            <a:off x="4885308" y="3429000"/>
            <a:ext cx="67352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7342D26-05A4-4592-88A4-CFE25CBF47C1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4885308" y="3448216"/>
            <a:ext cx="673520" cy="1533478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3EB621-8774-424A-886B-D689AEBD4E3D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558828" y="3428999"/>
            <a:ext cx="70617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788A53D-781D-44A4-9D0F-5F400CC7D4DE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0212308" y="3428999"/>
            <a:ext cx="2181538" cy="29960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2" descr="Four-dimensional space - Wikipedia">
            <a:extLst>
              <a:ext uri="{FF2B5EF4-FFF2-40B4-BE49-F238E27FC236}">
                <a16:creationId xmlns:a16="http://schemas.microsoft.com/office/drawing/2014/main" id="{5A968311-C4C9-4A1B-A5A1-01074BD5BF7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041" y="3794964"/>
            <a:ext cx="2181538" cy="21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962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flythrough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5C5B-3449-42DC-B19B-1690B916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Optimizer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D36B2-3C55-4F58-B421-631DD9B469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8BF60-AAC4-4FF9-959B-F5787F4F07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CAEF9-8E41-4EB8-B535-315DC80157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13AF1A-4B5E-4851-ADB1-CBEA12B9BED8}"/>
              </a:ext>
            </a:extLst>
          </p:cNvPr>
          <p:cNvGrpSpPr/>
          <p:nvPr/>
        </p:nvGrpSpPr>
        <p:grpSpPr>
          <a:xfrm>
            <a:off x="457200" y="1277268"/>
            <a:ext cx="10539278" cy="3973742"/>
            <a:chOff x="457200" y="1277268"/>
            <a:chExt cx="10539278" cy="39737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8946BC0-C5EC-4A24-B482-4129A28200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211" b="37517"/>
            <a:stretch/>
          </p:blipFill>
          <p:spPr>
            <a:xfrm>
              <a:off x="457200" y="1277268"/>
              <a:ext cx="10539278" cy="397374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0A5D0EE-6317-404D-9445-EAAF57F2E5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211" t="17522" r="74099" b="79328"/>
            <a:stretch/>
          </p:blipFill>
          <p:spPr>
            <a:xfrm>
              <a:off x="457200" y="2215389"/>
              <a:ext cx="1937442" cy="20030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159FF1-6388-4F24-A143-82BAC1455CBC}"/>
                </a:ext>
              </a:extLst>
            </p:cNvPr>
            <p:cNvSpPr/>
            <p:nvPr/>
          </p:nvSpPr>
          <p:spPr>
            <a:xfrm>
              <a:off x="537027" y="2401992"/>
              <a:ext cx="3926115" cy="290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pPr algn="ctr"/>
              <a:endParaRPr lang="en-US" sz="2000" dirty="0" err="1"/>
            </a:p>
          </p:txBody>
        </p:sp>
      </p:grp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926EE2-47AA-4E79-ACF2-C6B495B5A729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8ECF662-7235-4527-BC22-3B10F84DB633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605755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E2A4ED9-564E-4A3B-8EA3-47D36D3A7C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20"/>
          <a:stretch/>
        </p:blipFill>
        <p:spPr>
          <a:xfrm>
            <a:off x="262248" y="313475"/>
            <a:ext cx="11684522" cy="61236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395002-68BF-4E80-B4E3-118A204DE1D6}"/>
              </a:ext>
            </a:extLst>
          </p:cNvPr>
          <p:cNvSpPr/>
          <p:nvPr/>
        </p:nvSpPr>
        <p:spPr>
          <a:xfrm>
            <a:off x="5709250" y="556162"/>
            <a:ext cx="6220502" cy="12250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81A6BF-291E-480F-B445-B0EC98F6A995}"/>
              </a:ext>
            </a:extLst>
          </p:cNvPr>
          <p:cNvSpPr/>
          <p:nvPr/>
        </p:nvSpPr>
        <p:spPr>
          <a:xfrm>
            <a:off x="10197283" y="4954906"/>
            <a:ext cx="1624019" cy="13315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679C8-BEDC-4CC6-804C-ECBC8C4D058A}"/>
              </a:ext>
            </a:extLst>
          </p:cNvPr>
          <p:cNvSpPr txBox="1"/>
          <p:nvPr/>
        </p:nvSpPr>
        <p:spPr>
          <a:xfrm>
            <a:off x="3748838" y="653129"/>
            <a:ext cx="1222685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Output rarely converges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290E81-F74E-4C70-AEF9-BCBE49FFB689}"/>
              </a:ext>
            </a:extLst>
          </p:cNvPr>
          <p:cNvSpPr/>
          <p:nvPr/>
        </p:nvSpPr>
        <p:spPr>
          <a:xfrm>
            <a:off x="5078576" y="782000"/>
            <a:ext cx="523621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E83F5-B13D-4D3A-A2A9-7B56AA8D8BE6}"/>
              </a:ext>
            </a:extLst>
          </p:cNvPr>
          <p:cNvSpPr txBox="1"/>
          <p:nvPr/>
        </p:nvSpPr>
        <p:spPr>
          <a:xfrm>
            <a:off x="9393575" y="3517133"/>
            <a:ext cx="2014835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Ballast output ranged from 1e-20lbs to 30lbs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5DCEBEE-8EAC-49EF-BBC9-1057D1320DC5}"/>
              </a:ext>
            </a:extLst>
          </p:cNvPr>
          <p:cNvSpPr/>
          <p:nvPr/>
        </p:nvSpPr>
        <p:spPr>
          <a:xfrm rot="3944598">
            <a:off x="10282766" y="4353351"/>
            <a:ext cx="879687" cy="298770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2FE3E5-6F2F-43C5-9B8F-A0980538C2A0}"/>
              </a:ext>
            </a:extLst>
          </p:cNvPr>
          <p:cNvSpPr/>
          <p:nvPr/>
        </p:nvSpPr>
        <p:spPr>
          <a:xfrm>
            <a:off x="278514" y="4641998"/>
            <a:ext cx="5121362" cy="2255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74EEE5-67CE-401F-A921-34194837498D}"/>
              </a:ext>
            </a:extLst>
          </p:cNvPr>
          <p:cNvSpPr/>
          <p:nvPr/>
        </p:nvSpPr>
        <p:spPr>
          <a:xfrm>
            <a:off x="2781526" y="6221368"/>
            <a:ext cx="2731560" cy="19179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15D2B75-79AE-48C7-9061-4629543971C9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6BC14DAE-B7EC-4253-8BD7-07751DB2F1DE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095219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Ballast Optimizer Problem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52500" y="1181100"/>
            <a:ext cx="9772472" cy="5029200"/>
          </a:xfrm>
        </p:spPr>
        <p:txBody>
          <a:bodyPr/>
          <a:lstStyle/>
          <a:p>
            <a:r>
              <a:rPr lang="en-US" dirty="0"/>
              <a:t>MATLAB Optimizer app used to get ballast placements and weights doesn’t seem to work for Athena specific values</a:t>
            </a:r>
          </a:p>
          <a:p>
            <a:pPr lvl="1"/>
            <a:r>
              <a:rPr lang="en-US" dirty="0"/>
              <a:t>Outputs one far too massive weight</a:t>
            </a:r>
          </a:p>
          <a:p>
            <a:pPr lvl="1"/>
            <a:r>
              <a:rPr lang="en-US" dirty="0"/>
              <a:t>Places many small weights, so small they are insignificant</a:t>
            </a:r>
          </a:p>
          <a:p>
            <a:pPr lvl="1"/>
            <a:r>
              <a:rPr lang="en-US" dirty="0"/>
              <a:t>Can’t take into account different types of ballast</a:t>
            </a:r>
          </a:p>
          <a:p>
            <a:pPr lvl="2"/>
            <a:r>
              <a:rPr lang="en-US" dirty="0"/>
              <a:t>Some areas can take up to 20lbs where as others can only be .135lbs</a:t>
            </a:r>
          </a:p>
          <a:p>
            <a:pPr lvl="1"/>
            <a:r>
              <a:rPr lang="en-US" dirty="0"/>
              <a:t>Doesn’t converge</a:t>
            </a:r>
          </a:p>
          <a:p>
            <a:pPr lvl="1"/>
            <a:r>
              <a:rPr lang="en-US" dirty="0"/>
              <a:t>Doesn’t display convergence correctly</a:t>
            </a:r>
          </a:p>
          <a:p>
            <a:pPr lvl="2"/>
            <a:r>
              <a:rPr lang="en-US" dirty="0"/>
              <a:t>States non-convergent due to floating point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EF0557-557E-4E05-A15C-E44F5A05222A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F45B626-FF07-4798-BCB9-12447179B946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61D9BD9-7423-4436-9272-6651A5B2DA46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3558734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FC46-E0C9-4F0E-98D5-EC94D6D11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BF76-69B7-46D9-B07D-45CFC212E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17F1-1FD2-46B9-8586-DD504E0DF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98A371-B246-477F-A074-33896662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</p:spPr>
        <p:txBody>
          <a:bodyPr>
            <a:normAutofit/>
          </a:bodyPr>
          <a:lstStyle/>
          <a:p>
            <a:r>
              <a:rPr lang="en-US" dirty="0"/>
              <a:t>Large and Small Ballast Fix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4B6972-F625-46B9-BE5B-1EE7A751513F}"/>
              </a:ext>
            </a:extLst>
          </p:cNvPr>
          <p:cNvGrpSpPr/>
          <p:nvPr/>
        </p:nvGrpSpPr>
        <p:grpSpPr>
          <a:xfrm>
            <a:off x="501192" y="1181100"/>
            <a:ext cx="9322485" cy="1729510"/>
            <a:chOff x="457200" y="4502850"/>
            <a:chExt cx="9322485" cy="17295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CCB4D0F-F4E6-4B2A-8EAF-E2ACEA9DEF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037" t="41465" r="53114" b="41683"/>
            <a:stretch/>
          </p:blipFill>
          <p:spPr>
            <a:xfrm>
              <a:off x="457200" y="4502850"/>
              <a:ext cx="6371468" cy="17295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F61C73-C5D3-4B61-AA91-A1D11804801D}"/>
                </a:ext>
              </a:extLst>
            </p:cNvPr>
            <p:cNvSpPr/>
            <p:nvPr/>
          </p:nvSpPr>
          <p:spPr>
            <a:xfrm>
              <a:off x="3315854" y="5788221"/>
              <a:ext cx="2244437" cy="303284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endParaRPr lang="en-US" sz="2000" dirty="0" err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CBC694-EA33-421D-9077-1D20B350491C}"/>
                </a:ext>
              </a:extLst>
            </p:cNvPr>
            <p:cNvSpPr txBox="1"/>
            <p:nvPr/>
          </p:nvSpPr>
          <p:spPr>
            <a:xfrm>
              <a:off x="7644540" y="4754664"/>
              <a:ext cx="2135145" cy="738664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Alter objective function to also minimize the value of largest weight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2C90051-BA59-4A63-803A-C20B3983CF76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>
              <a:off x="5560291" y="5123996"/>
              <a:ext cx="2084249" cy="8158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C2DB117-6F7B-47D1-A3AE-D140B0D762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76" t="47811" r="47355" b="26061"/>
          <a:stretch/>
        </p:blipFill>
        <p:spPr>
          <a:xfrm>
            <a:off x="501192" y="3574835"/>
            <a:ext cx="6371468" cy="2486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BBF618D-AD00-42E3-B61D-15CE8B9E4B63}"/>
              </a:ext>
            </a:extLst>
          </p:cNvPr>
          <p:cNvSpPr/>
          <p:nvPr/>
        </p:nvSpPr>
        <p:spPr>
          <a:xfrm>
            <a:off x="501192" y="4031485"/>
            <a:ext cx="3682881" cy="4499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98665-2CB7-4C50-8E70-AECA234CCBE4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>
          <a:xfrm flipH="1">
            <a:off x="4184073" y="3944167"/>
            <a:ext cx="3504459" cy="31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01C8F5-B335-482F-8FEF-113FB889F1CA}"/>
              </a:ext>
            </a:extLst>
          </p:cNvPr>
          <p:cNvSpPr txBox="1"/>
          <p:nvPr/>
        </p:nvSpPr>
        <p:spPr>
          <a:xfrm>
            <a:off x="7688532" y="3574835"/>
            <a:ext cx="2135145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Created tolerance to round towards zero for better displayed results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741DE67-D830-4001-A4A6-4389CFCDA33B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62726AE-96C4-48B2-ADA5-617053DAF37D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59690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84EF-1FF6-4FF2-9A0D-686F359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Ballast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AAC-6BDB-426F-8045-7C41CFA494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286A-EA03-49D3-93A2-FF8174B2A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6EDE0-A21A-4EB9-8ECE-615EF3CA1A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D46C954-087C-4033-AADB-DAC27E1592DA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820D043-A2E7-4A52-BC78-E112DEF6CA10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C3220F-56CD-4CBA-97C9-84A4DD38C9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EAED"/>
              </a:clrFrom>
              <a:clrTo>
                <a:srgbClr val="E8EAE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3617" y="2042472"/>
            <a:ext cx="9124765" cy="298386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C5D80B-F965-47E1-A39B-0B2959DE48A1}"/>
              </a:ext>
            </a:extLst>
          </p:cNvPr>
          <p:cNvSpPr txBox="1"/>
          <p:nvPr/>
        </p:nvSpPr>
        <p:spPr>
          <a:xfrm>
            <a:off x="5048435" y="5989730"/>
            <a:ext cx="2276096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Athena - Capsule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7CE358-84CB-40F0-AB3D-4D1AB294C0E8}"/>
              </a:ext>
            </a:extLst>
          </p:cNvPr>
          <p:cNvSpPr txBox="1"/>
          <p:nvPr/>
        </p:nvSpPr>
        <p:spPr>
          <a:xfrm>
            <a:off x="5580566" y="1905284"/>
            <a:ext cx="126062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Ballast Rings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42611E-3508-441A-B31A-0E7EA04E76E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210881" y="2213061"/>
            <a:ext cx="1093767" cy="741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52742A-FE30-43ED-BC4B-608BFAA980F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210881" y="2213061"/>
            <a:ext cx="516383" cy="741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B2DA3B-C648-46F4-8C0A-A98DBEC4A5AC}"/>
              </a:ext>
            </a:extLst>
          </p:cNvPr>
          <p:cNvSpPr txBox="1"/>
          <p:nvPr/>
        </p:nvSpPr>
        <p:spPr>
          <a:xfrm>
            <a:off x="8192081" y="1633402"/>
            <a:ext cx="126062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Ballast Ring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83D6EF-4AE5-4EA8-A4DE-3E8DC5B20D9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822396" y="1941179"/>
            <a:ext cx="815626" cy="7514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54C0F8-563A-4BFF-B981-8A69135959D8}"/>
              </a:ext>
            </a:extLst>
          </p:cNvPr>
          <p:cNvSpPr txBox="1"/>
          <p:nvPr/>
        </p:nvSpPr>
        <p:spPr>
          <a:xfrm>
            <a:off x="3848054" y="2042472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Ballast Bowl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493849-F720-4724-9A9E-DDA01435DEF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528785" y="2350249"/>
            <a:ext cx="825103" cy="7192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5B55CC-68FF-45EE-A245-45DC957D7324}"/>
              </a:ext>
            </a:extLst>
          </p:cNvPr>
          <p:cNvSpPr txBox="1"/>
          <p:nvPr/>
        </p:nvSpPr>
        <p:spPr>
          <a:xfrm>
            <a:off x="2270926" y="2350249"/>
            <a:ext cx="1361462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Ballast Post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323811-78AC-4555-B349-6708B1C90574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951657" y="2658026"/>
            <a:ext cx="999744" cy="7993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417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122D-0A14-498C-9DB7-870B033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4153-9BA7-49E5-866D-DDAA5FBF04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6BD7-A173-49DF-ADA9-3A49CE39B4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2C4C-193D-43FD-993A-2D5ECCBADD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35A1-583A-4412-9FFE-DC14237EB5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15A12E-A1C1-46FC-9911-AF7BAE683D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01" r="606"/>
          <a:stretch/>
        </p:blipFill>
        <p:spPr>
          <a:xfrm>
            <a:off x="245229" y="365922"/>
            <a:ext cx="11701541" cy="60585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9AE51E-1E0B-41A6-8F1B-0AD0F4D31202}"/>
              </a:ext>
            </a:extLst>
          </p:cNvPr>
          <p:cNvSpPr/>
          <p:nvPr/>
        </p:nvSpPr>
        <p:spPr>
          <a:xfrm>
            <a:off x="308640" y="4808138"/>
            <a:ext cx="5286402" cy="16050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04669-C49D-4025-9168-CB27181726C2}"/>
              </a:ext>
            </a:extLst>
          </p:cNvPr>
          <p:cNvSpPr txBox="1"/>
          <p:nvPr/>
        </p:nvSpPr>
        <p:spPr>
          <a:xfrm>
            <a:off x="5454340" y="3113177"/>
            <a:ext cx="2017878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Input point data now includes a max weight available for each point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4001F28-E229-41D0-AC73-4619787F99FC}"/>
              </a:ext>
            </a:extLst>
          </p:cNvPr>
          <p:cNvSpPr/>
          <p:nvPr/>
        </p:nvSpPr>
        <p:spPr>
          <a:xfrm rot="6424698">
            <a:off x="5163623" y="4234949"/>
            <a:ext cx="839975" cy="265477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6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4B8715E-431D-4262-A1FD-020E669D8B5F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021473F9-33E9-46C3-ACA6-3C134F86DE50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733666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122D-0A14-498C-9DB7-870B033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Ballast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6BD7-A173-49DF-ADA9-3A49CE39B4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2C4C-193D-43FD-993A-2D5ECCBADD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35A1-583A-4412-9FFE-DC14237EB5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20C83-4326-4F3B-8647-BC6431782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53" r="66282" b="15152"/>
          <a:stretch/>
        </p:blipFill>
        <p:spPr>
          <a:xfrm>
            <a:off x="7561652" y="1045298"/>
            <a:ext cx="2903062" cy="5239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C71980-C3A0-41EE-A4F6-03110FF203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81" r="69878" b="12508"/>
          <a:stretch/>
        </p:blipFill>
        <p:spPr>
          <a:xfrm>
            <a:off x="1450197" y="1045298"/>
            <a:ext cx="2903061" cy="5239141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9EE40C-CC44-443A-B079-4E585A33694C}"/>
              </a:ext>
            </a:extLst>
          </p:cNvPr>
          <p:cNvSpPr/>
          <p:nvPr/>
        </p:nvSpPr>
        <p:spPr>
          <a:xfrm>
            <a:off x="5074670" y="3442482"/>
            <a:ext cx="1765570" cy="384116"/>
          </a:xfrm>
          <a:prstGeom prst="rightArrow">
            <a:avLst>
              <a:gd name="adj1" fmla="val 50000"/>
              <a:gd name="adj2" fmla="val 81193"/>
            </a:avLst>
          </a:prstGeom>
          <a:solidFill>
            <a:schemeClr val="accent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BF05-E3FB-4BD3-B2B6-B39B745A3CC8}"/>
              </a:ext>
            </a:extLst>
          </p:cNvPr>
          <p:cNvSpPr/>
          <p:nvPr/>
        </p:nvSpPr>
        <p:spPr>
          <a:xfrm>
            <a:off x="9639834" y="1045298"/>
            <a:ext cx="824880" cy="5257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DCDF5CB-E282-4BC4-AC81-26409CB5BF4D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3A73F28-4395-4F57-8651-C1050F684507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4275725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2CB9-8EC1-4812-964E-9F29C183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Ballast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2A370-4026-42F5-BAFC-B05765537D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A7AF-46EA-44B9-A83B-16FDF9FB83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02A4D-0CB2-46DC-9AEF-C5F5346601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4DC5C-0388-4167-B664-01E3DE199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63" t="42110" r="51715" b="41869"/>
          <a:stretch/>
        </p:blipFill>
        <p:spPr>
          <a:xfrm>
            <a:off x="146758" y="1932479"/>
            <a:ext cx="7056276" cy="18345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2CC9090-548F-47EC-8E83-0D455730C0CC}"/>
              </a:ext>
            </a:extLst>
          </p:cNvPr>
          <p:cNvSpPr/>
          <p:nvPr/>
        </p:nvSpPr>
        <p:spPr>
          <a:xfrm>
            <a:off x="146758" y="2876035"/>
            <a:ext cx="6581837" cy="6347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6C9A83-0EBC-4BA3-896A-D1631D15EBE0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6728595" y="1996538"/>
            <a:ext cx="1550283" cy="1196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733869-8437-4C73-8EE0-FAFE58BC37F3}"/>
              </a:ext>
            </a:extLst>
          </p:cNvPr>
          <p:cNvSpPr txBox="1"/>
          <p:nvPr/>
        </p:nvSpPr>
        <p:spPr>
          <a:xfrm>
            <a:off x="8278878" y="1627206"/>
            <a:ext cx="2135145" cy="73866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Max weight values pushed into </a:t>
            </a:r>
            <a:r>
              <a:rPr lang="en-US" sz="1400" dirty="0" err="1"/>
              <a:t>upper_bound</a:t>
            </a:r>
            <a:r>
              <a:rPr lang="en-US" sz="1400" dirty="0"/>
              <a:t> variable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554544-2728-478B-91D5-A37AF8F498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12" t="50501" r="10723" b="37517"/>
          <a:stretch/>
        </p:blipFill>
        <p:spPr>
          <a:xfrm>
            <a:off x="210132" y="4072903"/>
            <a:ext cx="11981868" cy="98752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4EBD0A2-AA21-48B4-B7FD-FDE092627F14}"/>
              </a:ext>
            </a:extLst>
          </p:cNvPr>
          <p:cNvSpPr/>
          <p:nvPr/>
        </p:nvSpPr>
        <p:spPr>
          <a:xfrm>
            <a:off x="5305725" y="4405525"/>
            <a:ext cx="1194664" cy="3050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20000"/>
          </a:bodyPr>
          <a:lstStyle/>
          <a:p>
            <a:pPr algn="ctr"/>
            <a:endParaRPr lang="en-US" sz="2000" dirty="0" err="1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073D60-8A5F-4CB9-87C7-A30EB45C0CCD}"/>
              </a:ext>
            </a:extLst>
          </p:cNvPr>
          <p:cNvCxnSpPr>
            <a:cxnSpLocks/>
          </p:cNvCxnSpPr>
          <p:nvPr/>
        </p:nvCxnSpPr>
        <p:spPr>
          <a:xfrm>
            <a:off x="5214796" y="3510776"/>
            <a:ext cx="724277" cy="879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921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128912A-C180-4D9A-829E-FE2D6DE35E10}"/>
              </a:ext>
            </a:extLst>
          </p:cNvPr>
          <p:cNvSpPr txBox="1"/>
          <p:nvPr/>
        </p:nvSpPr>
        <p:spPr>
          <a:xfrm>
            <a:off x="406716" y="1142568"/>
            <a:ext cx="10868802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Previously, convergence was determined by checking if goal values and new values were the same.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Due to floating point error, I was able to create a scenario where the new and old CG’s were .0000000051 off and the program didn’t show convergence</a:t>
            </a:r>
            <a:r>
              <a:rPr lang="en-US" sz="20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7122D-0A14-498C-9DB7-870B033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6BD7-A173-49DF-ADA9-3A49CE39B4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2C4C-193D-43FD-993A-2D5ECCBADD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35A1-583A-4412-9FFE-DC14237EB5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C445F-B4C4-4BB1-B23F-656B8878B5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79" t="52420" r="39726" b="31316"/>
          <a:stretch/>
        </p:blipFill>
        <p:spPr>
          <a:xfrm>
            <a:off x="705388" y="4801067"/>
            <a:ext cx="8015789" cy="15486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541D105-CF78-47A3-A5B4-6842F30690E7}"/>
              </a:ext>
            </a:extLst>
          </p:cNvPr>
          <p:cNvGrpSpPr/>
          <p:nvPr/>
        </p:nvGrpSpPr>
        <p:grpSpPr>
          <a:xfrm>
            <a:off x="705388" y="2867261"/>
            <a:ext cx="6533969" cy="1548678"/>
            <a:chOff x="6925884" y="3374013"/>
            <a:chExt cx="5706891" cy="110259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0FCB06A-7E1B-44D0-BD2D-27B393D38A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584" t="45118" r="31470" b="38804"/>
            <a:stretch/>
          </p:blipFill>
          <p:spPr>
            <a:xfrm>
              <a:off x="6925884" y="3374013"/>
              <a:ext cx="5706891" cy="1102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8A6C9A-B83B-49D0-B991-6DB5E932AA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136" t="46030" r="3297" b="48535"/>
            <a:stretch/>
          </p:blipFill>
          <p:spPr>
            <a:xfrm>
              <a:off x="6925884" y="3379330"/>
              <a:ext cx="1325386" cy="15400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54D4C2-8B38-43FA-9BAE-28C6F59FE645}"/>
              </a:ext>
            </a:extLst>
          </p:cNvPr>
          <p:cNvSpPr txBox="1"/>
          <p:nvPr/>
        </p:nvSpPr>
        <p:spPr>
          <a:xfrm>
            <a:off x="9222263" y="4210362"/>
            <a:ext cx="2310321" cy="52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Used a tolerance to avoid this problem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F6178-98AA-4D5A-8B50-4CB16DCDFD5D}"/>
              </a:ext>
            </a:extLst>
          </p:cNvPr>
          <p:cNvSpPr txBox="1"/>
          <p:nvPr/>
        </p:nvSpPr>
        <p:spPr>
          <a:xfrm>
            <a:off x="1304464" y="3299253"/>
            <a:ext cx="2199284" cy="21631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E25D8-6F1C-4674-A911-64D9C09987FE}"/>
              </a:ext>
            </a:extLst>
          </p:cNvPr>
          <p:cNvSpPr txBox="1"/>
          <p:nvPr/>
        </p:nvSpPr>
        <p:spPr>
          <a:xfrm>
            <a:off x="1329603" y="5265471"/>
            <a:ext cx="4147479" cy="21631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400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538FAA2-9D75-433C-A0B6-844009AA949B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D335D13-B648-485A-A909-C99AAFE7266C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DA8C11-0709-4617-B611-88429FECD5C8}"/>
              </a:ext>
            </a:extLst>
          </p:cNvPr>
          <p:cNvCxnSpPr>
            <a:cxnSpLocks/>
            <a:stCxn id="13" idx="1"/>
            <a:endCxn id="21" idx="3"/>
          </p:cNvCxnSpPr>
          <p:nvPr/>
        </p:nvCxnSpPr>
        <p:spPr>
          <a:xfrm flipH="1">
            <a:off x="5477082" y="4471972"/>
            <a:ext cx="3745181" cy="901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D5AA570-D356-4B76-9263-CE86D3F7E6D6}"/>
              </a:ext>
            </a:extLst>
          </p:cNvPr>
          <p:cNvSpPr txBox="1"/>
          <p:nvPr/>
        </p:nvSpPr>
        <p:spPr>
          <a:xfrm>
            <a:off x="613107" y="2614655"/>
            <a:ext cx="931665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Previous: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CE1FDB-7F6A-49BB-9CF4-23A0D95739DA}"/>
              </a:ext>
            </a:extLst>
          </p:cNvPr>
          <p:cNvSpPr txBox="1"/>
          <p:nvPr/>
        </p:nvSpPr>
        <p:spPr>
          <a:xfrm>
            <a:off x="613106" y="4551193"/>
            <a:ext cx="910827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Updated:</a:t>
            </a:r>
          </a:p>
        </p:txBody>
      </p:sp>
    </p:spTree>
    <p:extLst>
      <p:ext uri="{BB962C8B-B14F-4D97-AF65-F5344CB8AC3E}">
        <p14:creationId xmlns:p14="http://schemas.microsoft.com/office/powerpoint/2010/main" val="416393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076E-115C-4666-A495-3F93E5C9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AA76-C4D1-49DB-88C0-2C7B52B62C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815CE-19A8-4527-9613-9BD353D81C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6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9395-FA3C-462D-858F-07EC9BF55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192B-C4A1-43B1-B7F7-CE4AC9310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A58DB2-4709-4758-A68A-273ADC709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6"/>
          <a:stretch/>
        </p:blipFill>
        <p:spPr>
          <a:xfrm>
            <a:off x="263235" y="367078"/>
            <a:ext cx="11665527" cy="6057390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392CE8B-218E-4DB5-A6A4-B06591EC9E53}"/>
              </a:ext>
            </a:extLst>
          </p:cNvPr>
          <p:cNvSpPr txBox="1">
            <a:spLocks/>
          </p:cNvSpPr>
          <p:nvPr/>
        </p:nvSpPr>
        <p:spPr>
          <a:xfrm>
            <a:off x="0" y="-8228"/>
            <a:ext cx="12192000" cy="264260"/>
          </a:xfrm>
          <a:prstGeom prst="rect">
            <a:avLst/>
          </a:prstGeom>
          <a:solidFill>
            <a:srgbClr val="470A68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CUI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FE58B84-329D-4A84-A8C0-56C8D439B759}"/>
              </a:ext>
            </a:extLst>
          </p:cNvPr>
          <p:cNvSpPr txBox="1">
            <a:spLocks/>
          </p:cNvSpPr>
          <p:nvPr/>
        </p:nvSpPr>
        <p:spPr>
          <a:xfrm>
            <a:off x="4037846" y="6500822"/>
            <a:ext cx="4116308" cy="3566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3738" indent="-2460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.AppleSystemUIFont" charset="-120"/>
              <a:buChar char="-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0938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Wingdings" charset="2"/>
              <a:buChar char="§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655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SzPct val="80000"/>
              <a:buFont typeface="Courier New" charset="0"/>
              <a:buChar char="o"/>
              <a:tabLst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637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/>
              <a:defRPr sz="160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470A68"/>
                </a:solidFill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1056152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75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1F997-F981-4382-A845-B6ABD1A0E6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7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A5D8-D78E-43A2-AABD-2E5D08AE79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4246-DB02-436C-BED1-517E76A07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5A173-11CB-4778-8910-B2526CFE1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6" y="243840"/>
            <a:ext cx="10473895" cy="599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43556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26B47D95-EE2C-6A4D-BEF4-5EC15958B29F}" vid="{4E9EC19E-65E4-AA49-83C1-E3B4533A76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7BFD2CB1E744298C1AF8AA7379FF3" ma:contentTypeVersion="4" ma:contentTypeDescription="Create a new document." ma:contentTypeScope="" ma:versionID="e78114eed8621f4f046573b7710756e9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xmlns:ns3="79de32d1-22ac-42d0-9c42-d61c55952b0c" targetNamespace="http://schemas.microsoft.com/office/2006/metadata/properties" ma:root="true" ma:fieldsID="e95644cd47d5260cc7f92a9c31875574" ns1:_="" ns2:_="" ns3:_="">
    <xsd:import namespace="http://schemas.microsoft.com/sharepoint/v3"/>
    <xsd:import namespace="http://schemas.microsoft.com/sharepoint/v4"/>
    <xsd:import namespace="79de32d1-22ac-42d0-9c42-d61c55952b0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e32d1-22ac-42d0-9c42-d61c55952b0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FD810B3-75BC-4625-AF09-188C8F0E87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8361B9-84BC-40B8-B126-B461D6D85E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79de32d1-22ac-42d0-9c42-d61c55952b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824ECF-CBB8-40F5-A3F9-4793A9B63268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3126</TotalTime>
  <Words>673</Words>
  <Application>Microsoft Office PowerPoint</Application>
  <PresentationFormat>Widescreen</PresentationFormat>
  <Paragraphs>235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.AppleSystemUIFont</vt:lpstr>
      <vt:lpstr>Arial</vt:lpstr>
      <vt:lpstr>Calibri</vt:lpstr>
      <vt:lpstr>Courier New</vt:lpstr>
      <vt:lpstr>Helvetica</vt:lpstr>
      <vt:lpstr>Wingdings</vt:lpstr>
      <vt:lpstr>APL-PowerPoint-Theme_light</vt:lpstr>
      <vt:lpstr>Athena MATLAB Ballast Optimizer</vt:lpstr>
      <vt:lpstr>Athena Objective</vt:lpstr>
      <vt:lpstr>Ballast Ring Design</vt:lpstr>
      <vt:lpstr>Individual Cartridge Design</vt:lpstr>
      <vt:lpstr>Athena</vt:lpstr>
      <vt:lpstr>MATLAB Ballast Optimizer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Ballas Optimizer Outputs</vt:lpstr>
      <vt:lpstr>PowerPoint Presentation</vt:lpstr>
      <vt:lpstr>Review: Optimizers</vt:lpstr>
      <vt:lpstr>Review: Optimizer Sensitivity</vt:lpstr>
      <vt:lpstr>Review: Optimizer Sensitivity</vt:lpstr>
      <vt:lpstr>A side note’s side note</vt:lpstr>
      <vt:lpstr>MATLAB Ballast Optimizer Flow</vt:lpstr>
      <vt:lpstr>MATLAB Optimizer</vt:lpstr>
      <vt:lpstr>MATLAB Optimizer Code</vt:lpstr>
      <vt:lpstr>PowerPoint Presentation</vt:lpstr>
      <vt:lpstr>Ballast Optimizer Problem Summary</vt:lpstr>
      <vt:lpstr>Large and Small Ballast Fix</vt:lpstr>
      <vt:lpstr>Different Ballast Types</vt:lpstr>
      <vt:lpstr>PowerPoint Presentation</vt:lpstr>
      <vt:lpstr>Different Ballast Types</vt:lpstr>
      <vt:lpstr>Different Ballast Types</vt:lpstr>
      <vt:lpstr>Athena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Version 1.0</dc:description>
  <cp:lastModifiedBy>Hammer, Jack</cp:lastModifiedBy>
  <cp:revision>23</cp:revision>
  <cp:lastPrinted>2017-08-24T18:44:08Z</cp:lastPrinted>
  <dcterms:created xsi:type="dcterms:W3CDTF">2022-11-30T19:02:01Z</dcterms:created>
  <dcterms:modified xsi:type="dcterms:W3CDTF">2024-08-07T17:15:10Z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0x0101009757BFD2CB1E744298C1AF8AA7379FF3</vt:lpwstr>
  </property>
</Properties>
</file>